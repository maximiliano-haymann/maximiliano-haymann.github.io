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4" r:id="rId1"/>
  </p:sldMasterIdLst>
  <p:notesMasterIdLst>
    <p:notesMasterId r:id="rId11"/>
  </p:notesMasterIdLst>
  <p:handoutMasterIdLst>
    <p:handoutMasterId r:id="rId12"/>
  </p:handoutMasterIdLst>
  <p:sldIdLst>
    <p:sldId id="277" r:id="rId2"/>
    <p:sldId id="276" r:id="rId3"/>
    <p:sldId id="265" r:id="rId4"/>
    <p:sldId id="270" r:id="rId5"/>
    <p:sldId id="273" r:id="rId6"/>
    <p:sldId id="272" r:id="rId7"/>
    <p:sldId id="275" r:id="rId8"/>
    <p:sldId id="271" r:id="rId9"/>
    <p:sldId id="274" r:id="rId10"/>
  </p:sldIdLst>
  <p:sldSz cx="6965950" cy="3917950"/>
  <p:notesSz cx="6797675" cy="99250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8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50" autoAdjust="0"/>
  </p:normalViewPr>
  <p:slideViewPr>
    <p:cSldViewPr snapToGrid="0">
      <p:cViewPr varScale="1">
        <p:scale>
          <a:sx n="138" d="100"/>
          <a:sy n="138" d="100"/>
        </p:scale>
        <p:origin x="187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797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50A49-4D0A-40EB-BC74-D7A93E5F562B}" type="datetimeFigureOut">
              <a:rPr lang="pt-BR" smtClean="0"/>
              <a:t>16/11/2022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50443" y="9427076"/>
            <a:ext cx="2945659" cy="4979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D0A17C-36CF-4091-88B2-5049D5CED7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15176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1" y="0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50442" y="0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92075" y="744538"/>
            <a:ext cx="6613525" cy="37211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79768" y="4714399"/>
            <a:ext cx="5438139" cy="446627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marL="0" marR="0" lvl="0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1" y="9427075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b" anchorCtr="0"/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45720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91440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37160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182880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28600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274320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20040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65760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50442" y="9427075"/>
            <a:ext cx="2945658" cy="496253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SzPct val="250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7796077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1pPr>
    <a:lvl2pPr marL="261140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2pPr>
    <a:lvl3pPr marL="52228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3pPr>
    <a:lvl4pPr marL="78342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4pPr>
    <a:lvl5pPr marL="1044561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5pPr>
    <a:lvl6pPr marL="1305702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6pPr>
    <a:lvl7pPr marL="1566842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7pPr>
    <a:lvl8pPr marL="1827983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8pPr>
    <a:lvl9pPr marL="2089125" algn="l" defTabSz="522281" rtl="0" eaLnBrk="1" latinLnBrk="0" hangingPunct="1">
      <a:defRPr sz="68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803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2">
            <a:extLst>
              <a:ext uri="{FF2B5EF4-FFF2-40B4-BE49-F238E27FC236}">
                <a16:creationId xmlns:a16="http://schemas.microsoft.com/office/drawing/2014/main" id="{CE01A25F-E6F7-43F7-8471-47EB954794C6}"/>
              </a:ext>
            </a:extLst>
          </p:cNvPr>
          <p:cNvSpPr/>
          <p:nvPr userDrawn="1"/>
        </p:nvSpPr>
        <p:spPr>
          <a:xfrm>
            <a:off x="5046120" y="0"/>
            <a:ext cx="1919160" cy="1079280"/>
          </a:xfrm>
          <a:prstGeom prst="rect">
            <a:avLst/>
          </a:prstGeom>
          <a:solidFill>
            <a:schemeClr val="bg1">
              <a:lumMod val="75000"/>
              <a:alpha val="20000"/>
            </a:schemeClr>
          </a:solidFill>
          <a:ln w="12600">
            <a:solidFill>
              <a:schemeClr val="tx1">
                <a:lumMod val="50000"/>
                <a:lumOff val="50000"/>
                <a:alpha val="2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1200" b="0" strike="noStrike" spc="-1">
                <a:solidFill>
                  <a:srgbClr val="FFFFFF"/>
                </a:solidFill>
                <a:latin typeface="Arial"/>
                <a:ea typeface="Arial"/>
              </a:rPr>
              <a:t>NÃO USAR ESTE ESPAÇO</a:t>
            </a:r>
            <a:endParaRPr lang="pt-BR" sz="1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09812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59419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Atributo Consciencial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8CE41CB-DF46-366B-DF7D-E3C5B63392DF}"/>
              </a:ext>
            </a:extLst>
          </p:cNvPr>
          <p:cNvSpPr txBox="1"/>
          <p:nvPr/>
        </p:nvSpPr>
        <p:spPr>
          <a:xfrm>
            <a:off x="332140" y="1465621"/>
            <a:ext cx="6391387" cy="863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70510" algn="l"/>
              </a:tabLst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Capacidade, faculdade, qualidade, propriedade ou potencialidade da consciência componente do conjunto pessoal da consciencialidade, da lucidez, da acuidade ou percuciência.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305F011-149D-2397-5451-9233FA099E37}"/>
              </a:ext>
            </a:extLst>
          </p:cNvPr>
          <p:cNvSpPr txBox="1"/>
          <p:nvPr/>
        </p:nvSpPr>
        <p:spPr>
          <a:xfrm>
            <a:off x="3527834" y="2896580"/>
            <a:ext cx="35290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1200" b="0" i="1" u="none" strike="noStrike" kern="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(Verbete Atributo Consciencial, Waldo Vieira)</a:t>
            </a:r>
            <a:endParaRPr lang="pt-BR" sz="600" i="1" dirty="0"/>
          </a:p>
        </p:txBody>
      </p:sp>
    </p:spTree>
    <p:extLst>
      <p:ext uri="{BB962C8B-B14F-4D97-AF65-F5344CB8AC3E}">
        <p14:creationId xmlns:p14="http://schemas.microsoft.com/office/powerpoint/2010/main" val="1647625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140044" y="91167"/>
            <a:ext cx="5941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  <a:latin typeface="+mj-lt"/>
              </a:rPr>
              <a:t>Taxologia dos Atributos Conscienciais</a:t>
            </a: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8CE41CB-DF46-366B-DF7D-E3C5B63392DF}"/>
              </a:ext>
            </a:extLst>
          </p:cNvPr>
          <p:cNvSpPr txBox="1"/>
          <p:nvPr/>
        </p:nvSpPr>
        <p:spPr>
          <a:xfrm>
            <a:off x="332141" y="1302169"/>
            <a:ext cx="6391387" cy="2225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tabLst>
                <a:tab pos="270510" algn="l"/>
              </a:tabLst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Taxologia: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Há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3 modalidades de atributos conscienciais: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70510" algn="l"/>
              </a:tabLst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	1.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Sentidos somáticos: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visão, audição, tato, olfação, gustação </a:t>
            </a:r>
            <a:b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</a:b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 outros.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70510" algn="l"/>
              </a:tabLst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	2.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Faculdades mentais: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atenção, concentração mental, associação de ideias, memória e outras.</a:t>
            </a:r>
          </a:p>
          <a:p>
            <a:pPr>
              <a:lnSpc>
                <a:spcPct val="107000"/>
              </a:lnSpc>
              <a:spcAft>
                <a:spcPts val="800"/>
              </a:spcAft>
              <a:tabLst>
                <a:tab pos="270510" algn="l"/>
              </a:tabLst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	3. </a:t>
            </a: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Parapercepções: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clarividência, projetabilidade lúcida, ectoplasmia, penetrabilidade interconsciencial e outras.</a:t>
            </a:r>
          </a:p>
        </p:txBody>
      </p:sp>
    </p:spTree>
    <p:extLst>
      <p:ext uri="{BB962C8B-B14F-4D97-AF65-F5344CB8AC3E}">
        <p14:creationId xmlns:p14="http://schemas.microsoft.com/office/powerpoint/2010/main" val="9949660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59419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  <a:latin typeface="+mj-lt"/>
              </a:rPr>
              <a:t>Penetrabilidade Interconsciencial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68621A-35F8-4701-85AE-E92BB9D20BDC}"/>
              </a:ext>
            </a:extLst>
          </p:cNvPr>
          <p:cNvSpPr txBox="1"/>
          <p:nvPr/>
        </p:nvSpPr>
        <p:spPr>
          <a:xfrm>
            <a:off x="196705" y="1455521"/>
            <a:ext cx="657254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Atributo, capacidade, faculdade, habilidade, qua­lidade, propriedade ou potencialidade interativa das consciências, intra e extrafí­si­cas, de interpenetrarem-se, pensênica e holossomaticamente, de modo ho­me­os­tá­tico, para­pato­ló­gico, ou ambi­va­len­te, a partir de qualquer dimensão onde se manifestem.</a:t>
            </a:r>
          </a:p>
          <a:p>
            <a:endParaRPr lang="pt-BR" sz="1800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pt-BR" sz="1800" i="1" dirty="0">
                <a:solidFill>
                  <a:srgbClr val="FF0000"/>
                </a:solidFill>
              </a:rPr>
              <a:t>Sin: Permeabilidade interconsciencial</a:t>
            </a:r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  <a:p>
            <a:endParaRPr lang="pt-BR" sz="1800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978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Proposição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23545" y="1279197"/>
            <a:ext cx="6487631" cy="2922448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No livro 700 Experimentos da Conscienciologia (1994, p. 385), no capítulo 321, Teste da Autopenetrabilidade, Waldo Vieira apresenta o atributo da penetrabilidade interconsciencial.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“... Atributo ainda muito desconhecido, pouco entendido e o menos empregado com razoável lucidez pelas conscins em geral”.</a:t>
            </a:r>
          </a:p>
          <a:p>
            <a:pPr marL="285750" indent="-285750">
              <a:spcAft>
                <a:spcPts val="1200"/>
              </a:spcAft>
              <a:buFontTx/>
              <a:buChar char="-"/>
            </a:pP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Vieira exemplifica 6 diferentes casos de penetrabilidade interconsciencial. 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327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Casuística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197203" y="1114506"/>
            <a:ext cx="6571544" cy="2922448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“Holossoma.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 consciex, ou ser extrafísico, ou a conscin, ou o ser intrafísico projetado, penetram – </a:t>
            </a:r>
            <a:r>
              <a:rPr lang="pt-BR" sz="1600" i="1" dirty="0">
                <a:solidFill>
                  <a:srgbClr val="C00000"/>
                </a:solidFill>
                <a:latin typeface="+mj-lt"/>
              </a:rPr>
              <a:t>inundação holossoma a holossom</a:t>
            </a:r>
            <a:r>
              <a:rPr lang="pt-BR" sz="1600" i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– inserindo-se e permeando outro ser na dimensão extrafísica. O fato gera as </a:t>
            </a:r>
            <a:r>
              <a:rPr lang="pt-BR" sz="1600" dirty="0">
                <a:solidFill>
                  <a:srgbClr val="C00000"/>
                </a:solidFill>
                <a:latin typeface="+mj-lt"/>
              </a:rPr>
              <a:t>interfusões conscienciais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, holossomáticas, temporárias e máximas, inclusive muitas condições do fenômeno da </a:t>
            </a:r>
            <a:r>
              <a:rPr lang="pt-BR" sz="1600" dirty="0">
                <a:solidFill>
                  <a:srgbClr val="C00000"/>
                </a:solidFill>
                <a:latin typeface="+mj-lt"/>
              </a:rPr>
              <a:t>cosmoconsciência</a:t>
            </a:r>
            <a:r>
              <a:rPr lang="pt-BR" sz="1600" dirty="0">
                <a:solidFill>
                  <a:srgbClr val="FF0000"/>
                </a:solidFill>
                <a:latin typeface="+mj-lt"/>
              </a:rPr>
              <a:t>.”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</a:rPr>
              <a:t>“Mentalsoma.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O amparador extrafísico penetra – </a:t>
            </a:r>
            <a:r>
              <a:rPr lang="pt-BR" sz="1600" i="1" dirty="0">
                <a:solidFill>
                  <a:srgbClr val="C00000"/>
                </a:solidFill>
                <a:latin typeface="+mj-lt"/>
              </a:rPr>
              <a:t>aprofundamento mentalsoma a mentalsoma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– de modo interdimensional, adentrando o ser intrafísico afim. Daí são desencadeados muitos dos </a:t>
            </a:r>
            <a:r>
              <a:rPr lang="pt-BR" sz="1600" dirty="0">
                <a:solidFill>
                  <a:srgbClr val="C00000"/>
                </a:solidFill>
                <a:latin typeface="+mj-lt"/>
              </a:rPr>
              <a:t>fenômenos parapsíquicos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 sadios em geral.”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601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>
                <a:solidFill>
                  <a:schemeClr val="accent1"/>
                </a:solidFill>
                <a:latin typeface="+mj-lt"/>
              </a:rPr>
              <a:t>Categorias de Autopenetrabilidade</a:t>
            </a: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39159" y="929594"/>
            <a:ext cx="6487631" cy="2922448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spcAft>
                <a:spcPts val="1200"/>
              </a:spcAft>
            </a:pPr>
            <a:endParaRPr lang="pt-BR" sz="16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178123"/>
              </p:ext>
            </p:extLst>
          </p:nvPr>
        </p:nvGraphicFramePr>
        <p:xfrm>
          <a:off x="371651" y="1308442"/>
          <a:ext cx="6355316" cy="2415572"/>
        </p:xfrm>
        <a:graphic>
          <a:graphicData uri="http://schemas.openxmlformats.org/drawingml/2006/table">
            <a:tbl>
              <a:tblPr firstRow="1" firstCol="1" bandRow="1"/>
              <a:tblGrid>
                <a:gridCol w="3069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2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622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N</a:t>
                      </a:r>
                      <a:r>
                        <a:rPr lang="pt-BR" sz="1000" b="1" u="sng" baseline="30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</a:t>
                      </a:r>
                      <a:endParaRPr lang="pt-BR" sz="9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Consciências</a:t>
                      </a:r>
                      <a:b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Envolvidas</a:t>
                      </a:r>
                      <a:endParaRPr lang="pt-BR" sz="9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Veículos Conscienciais / Chacras Atuantes</a:t>
                      </a:r>
                      <a:endParaRPr lang="pt-BR" sz="9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Dimensões </a:t>
                      </a:r>
                      <a:b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000" b="1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Existenciais</a:t>
                      </a:r>
                      <a:endParaRPr lang="pt-BR" sz="900" dirty="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Parafenômenos /</a:t>
                      </a:r>
                      <a:br>
                        <a:rPr lang="pt-BR" sz="1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</a:br>
                      <a:r>
                        <a:rPr lang="pt-BR" sz="1000" b="1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Ocorrências Resultantes</a:t>
                      </a:r>
                      <a:endParaRPr lang="pt-BR" sz="900">
                        <a:solidFill>
                          <a:schemeClr val="accent5">
                            <a:lumMod val="75000"/>
                          </a:schemeClr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55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1.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Consciex ou conscin projetada / Consciex ou conscin projetada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Holossoma ↔ Holossoma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Dimenex / Dimenex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Interfusão consciencial, holossomática / Cosmoconsciência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39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2.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Amparador extrafísico / Conscin amparanda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Mentalsoma ↔ Mentalsoma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Dimenex / Dimenin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Fenômenos parapsíquicos sadios 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839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3.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Assediador extrafísico / Conscin vítima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Psicossoma ↔ Psicossoma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Dimenex / Dimenin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Fenômenos parapsíquicos doentios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839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4.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Conscin / Conscin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Energossoma ↔ Energossoma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Dimenin / Dimenin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Assimilação simpática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839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5.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Conscin / Conscin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Cardiochacra ↔ Cardiochacra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Dimenin / Dimenin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Casal incompleto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839"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6.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Conscin / Conscin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Sexochacra ↔ Sexochacra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ctr">
                        <a:spcAft>
                          <a:spcPts val="0"/>
                        </a:spcAft>
                      </a:pPr>
                      <a:r>
                        <a:rPr lang="pt-BR" sz="100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Dimenin / Dimenin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-226695" algn="l">
                        <a:spcAft>
                          <a:spcPts val="0"/>
                        </a:spcAft>
                      </a:pPr>
                      <a:r>
                        <a:rPr lang="pt-BR" sz="1000" dirty="0">
                          <a:solidFill>
                            <a:schemeClr val="accent5">
                              <a:lumMod val="75000"/>
                            </a:schemeClr>
                          </a:solidFill>
                          <a:effectLst/>
                          <a:latin typeface="Arial" panose="020B060402020202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Intercurso sexual / Bíduo energético</a:t>
                      </a:r>
                    </a:p>
                  </a:txBody>
                  <a:tcPr marL="64298" marR="6429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81440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1"/>
                </a:solidFill>
                <a:latin typeface="+mj-lt"/>
              </a:rPr>
              <a:t>Atributologia - Coativação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  <p:sp>
        <p:nvSpPr>
          <p:cNvPr id="2" name="Retângulo de cantos arredondados 1"/>
          <p:cNvSpPr/>
          <p:nvPr/>
        </p:nvSpPr>
        <p:spPr>
          <a:xfrm>
            <a:off x="297362" y="1463261"/>
            <a:ext cx="1487214" cy="662152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Penetrabilidade Interconsciencial</a:t>
            </a:r>
            <a:endParaRPr lang="pt-BR" sz="1100" b="1" dirty="0"/>
          </a:p>
        </p:txBody>
      </p:sp>
      <p:cxnSp>
        <p:nvCxnSpPr>
          <p:cNvPr id="8" name="Conector de seta reta 7"/>
          <p:cNvCxnSpPr>
            <a:stCxn id="2" idx="3"/>
            <a:endCxn id="9" idx="1"/>
          </p:cNvCxnSpPr>
          <p:nvPr/>
        </p:nvCxnSpPr>
        <p:spPr>
          <a:xfrm>
            <a:off x="1784576" y="1794337"/>
            <a:ext cx="1146679" cy="391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tângulo de cantos arredondados 8"/>
          <p:cNvSpPr/>
          <p:nvPr/>
        </p:nvSpPr>
        <p:spPr>
          <a:xfrm>
            <a:off x="2931255" y="1855075"/>
            <a:ext cx="1839309" cy="66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Lateropensene inspiracional</a:t>
            </a:r>
            <a:endParaRPr lang="pt-BR" sz="1100" b="1" dirty="0"/>
          </a:p>
        </p:txBody>
      </p:sp>
      <p:sp>
        <p:nvSpPr>
          <p:cNvPr id="10" name="Retângulo 9"/>
          <p:cNvSpPr/>
          <p:nvPr/>
        </p:nvSpPr>
        <p:spPr>
          <a:xfrm>
            <a:off x="2492395" y="3452114"/>
            <a:ext cx="443808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Parapercepção da consciência capaz de </a:t>
            </a:r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adentrar intimidade do microuniverso </a:t>
            </a:r>
            <a:r>
              <a:rPr lang="pt-BR" dirty="0">
                <a:solidFill>
                  <a:schemeClr val="accent5">
                    <a:lumMod val="75000"/>
                  </a:schemeClr>
                </a:solidFill>
              </a:rPr>
              <a:t>de outrem de imediato, sem contato e nem interlocução, auscultando-lhe a exata realidade intraconsciencial.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367916" y="3528343"/>
            <a:ext cx="184731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pt-BR" dirty="0"/>
          </a:p>
        </p:txBody>
      </p:sp>
      <p:cxnSp>
        <p:nvCxnSpPr>
          <p:cNvPr id="15" name="Conector de seta reta 14"/>
          <p:cNvCxnSpPr>
            <a:stCxn id="2" idx="3"/>
            <a:endCxn id="19" idx="1"/>
          </p:cNvCxnSpPr>
          <p:nvPr/>
        </p:nvCxnSpPr>
        <p:spPr>
          <a:xfrm flipV="1">
            <a:off x="1784576" y="1277007"/>
            <a:ext cx="707819" cy="5173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tângulo de cantos arredondados 17"/>
          <p:cNvSpPr/>
          <p:nvPr/>
        </p:nvSpPr>
        <p:spPr>
          <a:xfrm>
            <a:off x="2557286" y="2764220"/>
            <a:ext cx="1839309" cy="66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Paraconscienciometria</a:t>
            </a:r>
            <a:endParaRPr lang="pt-BR" sz="1100" b="1" dirty="0"/>
          </a:p>
        </p:txBody>
      </p:sp>
      <p:sp>
        <p:nvSpPr>
          <p:cNvPr id="19" name="Retângulo de cantos arredondados 18"/>
          <p:cNvSpPr/>
          <p:nvPr/>
        </p:nvSpPr>
        <p:spPr>
          <a:xfrm>
            <a:off x="2492395" y="945931"/>
            <a:ext cx="1839309" cy="66215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/>
              <a:t>Erergima (estado possesivo patológico)</a:t>
            </a:r>
            <a:endParaRPr lang="pt-BR" sz="1100" b="1" dirty="0"/>
          </a:p>
        </p:txBody>
      </p:sp>
      <p:cxnSp>
        <p:nvCxnSpPr>
          <p:cNvPr id="23" name="Conector de seta reta 22"/>
          <p:cNvCxnSpPr>
            <a:stCxn id="2" idx="3"/>
            <a:endCxn id="18" idx="1"/>
          </p:cNvCxnSpPr>
          <p:nvPr/>
        </p:nvCxnSpPr>
        <p:spPr>
          <a:xfrm>
            <a:off x="1784576" y="1794337"/>
            <a:ext cx="772710" cy="13009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tângulo 29"/>
          <p:cNvSpPr/>
          <p:nvPr/>
        </p:nvSpPr>
        <p:spPr>
          <a:xfrm>
            <a:off x="4427988" y="2909041"/>
            <a:ext cx="189398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>
                <a:solidFill>
                  <a:schemeClr val="accent5">
                    <a:lumMod val="75000"/>
                  </a:schemeClr>
                </a:solidFill>
              </a:rPr>
              <a:t>+ Hiperacuidade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(Agente Ativo / Heterabordagem)</a:t>
            </a:r>
            <a:endParaRPr lang="pt-B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2" name="Retângulo 31"/>
          <p:cNvSpPr/>
          <p:nvPr/>
        </p:nvSpPr>
        <p:spPr>
          <a:xfrm>
            <a:off x="4808794" y="1901988"/>
            <a:ext cx="197037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+ Autodiscernimeno pensênico </a:t>
            </a:r>
            <a:br>
              <a:rPr lang="en-US" b="1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(Agente Passivo / Receptor)</a:t>
            </a:r>
            <a:endParaRPr lang="pt-BR" b="1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3" name="Retângulo 32"/>
          <p:cNvSpPr/>
          <p:nvPr/>
        </p:nvSpPr>
        <p:spPr>
          <a:xfrm>
            <a:off x="4331352" y="1124707"/>
            <a:ext cx="162367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- Intrusão holossomática </a:t>
            </a:r>
          </a:p>
          <a:p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(Agente Passivo / Receptor)</a:t>
            </a:r>
            <a:endParaRPr lang="pt-BR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422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Discussão</a:t>
            </a:r>
            <a:endParaRPr lang="pt-BR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96966" y="1338698"/>
            <a:ext cx="6487631" cy="2922448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Experimentologia: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passivo (ser permeado) x ativo (permear)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Localização: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diferentes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dimensões conscienciais.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Parafenomenologia: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fundamenta os parafenômenos.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Parafisiologia: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explica muito do processo parapsíquico.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Cosmoeticologia: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neutro, paratol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ógico ou homeostático.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Crescendologia: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do pré-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humano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600" dirty="0" err="1">
                <a:solidFill>
                  <a:schemeClr val="accent1">
                    <a:lumMod val="50000"/>
                  </a:schemeClr>
                </a:solidFill>
                <a:latin typeface="+mj-lt"/>
              </a:rPr>
              <a:t>até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consciexes lúcidas.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7337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5113351-8FAC-455D-89BD-E1AE1D7A9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" y="0"/>
            <a:ext cx="6965244" cy="39179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D1C121E-6A9A-4688-BC14-0754731F6B5D}"/>
              </a:ext>
            </a:extLst>
          </p:cNvPr>
          <p:cNvSpPr txBox="1"/>
          <p:nvPr/>
        </p:nvSpPr>
        <p:spPr>
          <a:xfrm>
            <a:off x="248629" y="85452"/>
            <a:ext cx="48336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1"/>
                </a:solidFill>
                <a:latin typeface="+mj-lt"/>
              </a:rPr>
              <a:t>Discussão</a:t>
            </a:r>
            <a:endParaRPr lang="pt-BR" sz="24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6" name="Título 1"/>
          <p:cNvSpPr txBox="1">
            <a:spLocks/>
          </p:cNvSpPr>
          <p:nvPr/>
        </p:nvSpPr>
        <p:spPr>
          <a:xfrm>
            <a:off x="248629" y="1279197"/>
            <a:ext cx="6487631" cy="2922448"/>
          </a:xfrm>
          <a:prstGeom prst="rect">
            <a:avLst/>
          </a:prstGeom>
        </p:spPr>
        <p:txBody>
          <a:bodyPr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Autodesassediologia: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autorrefrariedade x autopenetrabilidade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Interassistenciologia: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iscagem interconsciencial, ofiex.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Efeitologia: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na</a:t>
            </a:r>
            <a:r>
              <a:rPr lang="en-US" sz="1600" b="1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autexperimentação parapsíquica.</a:t>
            </a:r>
          </a:p>
        </p:txBody>
      </p:sp>
      <p:pic>
        <p:nvPicPr>
          <p:cNvPr id="7" name="Picture 11">
            <a:extLst>
              <a:ext uri="{FF2B5EF4-FFF2-40B4-BE49-F238E27FC236}">
                <a16:creationId xmlns:a16="http://schemas.microsoft.com/office/drawing/2014/main" id="{12718E01-86AB-6488-F0A1-4543600BAF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242" y="0"/>
            <a:ext cx="1952708" cy="111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120903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5380</TotalTime>
  <Words>589</Words>
  <Application>Microsoft Office PowerPoint</Application>
  <PresentationFormat>Personalizar</PresentationFormat>
  <Paragraphs>84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Wingdings</vt:lpstr>
      <vt:lpstr>2_Office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Edu</dc:creator>
  <cp:lastModifiedBy>Maximiliano Haymann</cp:lastModifiedBy>
  <cp:revision>250</cp:revision>
  <cp:lastPrinted>2022-07-16T22:49:06Z</cp:lastPrinted>
  <dcterms:modified xsi:type="dcterms:W3CDTF">2022-11-16T13:47:15Z</dcterms:modified>
</cp:coreProperties>
</file>