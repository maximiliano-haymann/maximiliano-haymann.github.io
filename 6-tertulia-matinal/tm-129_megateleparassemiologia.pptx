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74" r:id="rId2"/>
  </p:sldMasterIdLst>
  <p:notesMasterIdLst>
    <p:notesMasterId r:id="rId26"/>
  </p:notesMasterIdLst>
  <p:sldIdLst>
    <p:sldId id="256" r:id="rId3"/>
    <p:sldId id="258" r:id="rId4"/>
    <p:sldId id="261" r:id="rId5"/>
    <p:sldId id="279" r:id="rId6"/>
    <p:sldId id="282" r:id="rId7"/>
    <p:sldId id="281" r:id="rId8"/>
    <p:sldId id="283" r:id="rId9"/>
    <p:sldId id="259" r:id="rId10"/>
    <p:sldId id="263" r:id="rId11"/>
    <p:sldId id="264" r:id="rId12"/>
    <p:sldId id="284" r:id="rId13"/>
    <p:sldId id="285" r:id="rId14"/>
    <p:sldId id="267" r:id="rId15"/>
    <p:sldId id="268" r:id="rId16"/>
    <p:sldId id="269" r:id="rId17"/>
    <p:sldId id="270" r:id="rId18"/>
    <p:sldId id="273" r:id="rId19"/>
    <p:sldId id="272" r:id="rId20"/>
    <p:sldId id="271" r:id="rId21"/>
    <p:sldId id="274" r:id="rId22"/>
    <p:sldId id="286" r:id="rId23"/>
    <p:sldId id="275" r:id="rId24"/>
    <p:sldId id="278" r:id="rId2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308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9B2308-CE61-4500-B59A-2FDA96348FF4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59C8F308-17D5-4F75-AC20-4A1F13E8FB81}">
      <dgm:prSet phldrT="[Texto]" custT="1"/>
      <dgm:spPr/>
      <dgm:t>
        <a:bodyPr/>
        <a:lstStyle/>
        <a:p>
          <a:r>
            <a:rPr lang="pt-BR" sz="1800" b="1" dirty="0" smtClean="0"/>
            <a:t>Anamnese Extrafísica</a:t>
          </a:r>
          <a:endParaRPr lang="pt-BR" sz="1800" b="1" dirty="0"/>
        </a:p>
      </dgm:t>
    </dgm:pt>
    <dgm:pt modelId="{B69E311A-C696-4444-A125-73235F06D48C}" type="parTrans" cxnId="{F62F201F-E328-4ADF-BF8C-5C70A9FD56A7}">
      <dgm:prSet/>
      <dgm:spPr/>
      <dgm:t>
        <a:bodyPr/>
        <a:lstStyle/>
        <a:p>
          <a:endParaRPr lang="pt-BR"/>
        </a:p>
      </dgm:t>
    </dgm:pt>
    <dgm:pt modelId="{9C70B7E6-40F1-416E-92C9-8EF0011C2C5B}" type="sibTrans" cxnId="{F62F201F-E328-4ADF-BF8C-5C70A9FD56A7}">
      <dgm:prSet/>
      <dgm:spPr/>
      <dgm:t>
        <a:bodyPr/>
        <a:lstStyle/>
        <a:p>
          <a:endParaRPr lang="pt-BR"/>
        </a:p>
      </dgm:t>
    </dgm:pt>
    <dgm:pt modelId="{16FC1A7F-EAAC-40B2-8082-9891FAE08765}">
      <dgm:prSet phldrT="[Texto]" custT="1"/>
      <dgm:spPr/>
      <dgm:t>
        <a:bodyPr/>
        <a:lstStyle/>
        <a:p>
          <a:r>
            <a:rPr lang="pt-BR" sz="1800" b="1" dirty="0" smtClean="0"/>
            <a:t>Diagnóstico </a:t>
          </a:r>
          <a:br>
            <a:rPr lang="pt-BR" sz="1800" b="1" dirty="0" smtClean="0"/>
          </a:br>
          <a:r>
            <a:rPr lang="pt-BR" sz="1800" b="1" dirty="0" smtClean="0"/>
            <a:t>Projetivo</a:t>
          </a:r>
          <a:endParaRPr lang="pt-BR" sz="1800" b="1" dirty="0"/>
        </a:p>
      </dgm:t>
    </dgm:pt>
    <dgm:pt modelId="{C41EA61B-5462-4EB4-92CC-67BF52E9E33D}" type="parTrans" cxnId="{46419103-FC11-4B7F-90F1-E8F8F034E6F1}">
      <dgm:prSet/>
      <dgm:spPr/>
      <dgm:t>
        <a:bodyPr/>
        <a:lstStyle/>
        <a:p>
          <a:endParaRPr lang="pt-BR"/>
        </a:p>
      </dgm:t>
    </dgm:pt>
    <dgm:pt modelId="{30B39E1F-5EB5-4FF7-B7AA-E785B6A4F164}" type="sibTrans" cxnId="{46419103-FC11-4B7F-90F1-E8F8F034E6F1}">
      <dgm:prSet/>
      <dgm:spPr/>
      <dgm:t>
        <a:bodyPr/>
        <a:lstStyle/>
        <a:p>
          <a:endParaRPr lang="pt-BR"/>
        </a:p>
      </dgm:t>
    </dgm:pt>
    <dgm:pt modelId="{5EC4E521-6DD9-4317-A86C-2BD397B62C88}" type="pres">
      <dgm:prSet presAssocID="{859B2308-CE61-4500-B59A-2FDA96348FF4}" presName="Name0" presStyleCnt="0">
        <dgm:presLayoutVars>
          <dgm:dir/>
          <dgm:animLvl val="lvl"/>
          <dgm:resizeHandles val="exact"/>
        </dgm:presLayoutVars>
      </dgm:prSet>
      <dgm:spPr/>
    </dgm:pt>
    <dgm:pt modelId="{D29C6898-997D-4AB4-B74D-F9DECD02A103}" type="pres">
      <dgm:prSet presAssocID="{59C8F308-17D5-4F75-AC20-4A1F13E8FB81}" presName="parTxOnly" presStyleLbl="node1" presStyleIdx="0" presStyleCnt="2" custScaleX="41042" custScaleY="54913" custLinFactX="-5278" custLinFactNeighborX="-100000" custLinFactNeighborY="666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8B1A0C5-E8CA-40FA-A7BB-C328337F1167}" type="pres">
      <dgm:prSet presAssocID="{9C70B7E6-40F1-416E-92C9-8EF0011C2C5B}" presName="parTxOnlySpace" presStyleCnt="0"/>
      <dgm:spPr/>
    </dgm:pt>
    <dgm:pt modelId="{0DB28FA8-D6B6-4628-84A6-716BC7143F54}" type="pres">
      <dgm:prSet presAssocID="{16FC1A7F-EAAC-40B2-8082-9891FAE08765}" presName="parTxOnly" presStyleLbl="node1" presStyleIdx="1" presStyleCnt="2" custScaleX="45186" custScaleY="54913" custLinFactNeighborX="-19036" custLinFactNeighborY="-539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FC4B2C03-CD06-4688-BA43-965744A092FE}" type="presOf" srcId="{59C8F308-17D5-4F75-AC20-4A1F13E8FB81}" destId="{D29C6898-997D-4AB4-B74D-F9DECD02A103}" srcOrd="0" destOrd="0" presId="urn:microsoft.com/office/officeart/2005/8/layout/chevron1"/>
    <dgm:cxn modelId="{F62F201F-E328-4ADF-BF8C-5C70A9FD56A7}" srcId="{859B2308-CE61-4500-B59A-2FDA96348FF4}" destId="{59C8F308-17D5-4F75-AC20-4A1F13E8FB81}" srcOrd="0" destOrd="0" parTransId="{B69E311A-C696-4444-A125-73235F06D48C}" sibTransId="{9C70B7E6-40F1-416E-92C9-8EF0011C2C5B}"/>
    <dgm:cxn modelId="{6A3E6CDE-BECA-4BB2-AECE-885B219F9ADB}" type="presOf" srcId="{16FC1A7F-EAAC-40B2-8082-9891FAE08765}" destId="{0DB28FA8-D6B6-4628-84A6-716BC7143F54}" srcOrd="0" destOrd="0" presId="urn:microsoft.com/office/officeart/2005/8/layout/chevron1"/>
    <dgm:cxn modelId="{1AC6EB7C-DF63-4280-988B-A98172EC921C}" type="presOf" srcId="{859B2308-CE61-4500-B59A-2FDA96348FF4}" destId="{5EC4E521-6DD9-4317-A86C-2BD397B62C88}" srcOrd="0" destOrd="0" presId="urn:microsoft.com/office/officeart/2005/8/layout/chevron1"/>
    <dgm:cxn modelId="{46419103-FC11-4B7F-90F1-E8F8F034E6F1}" srcId="{859B2308-CE61-4500-B59A-2FDA96348FF4}" destId="{16FC1A7F-EAAC-40B2-8082-9891FAE08765}" srcOrd="1" destOrd="0" parTransId="{C41EA61B-5462-4EB4-92CC-67BF52E9E33D}" sibTransId="{30B39E1F-5EB5-4FF7-B7AA-E785B6A4F164}"/>
    <dgm:cxn modelId="{D4C2A302-90C7-41D6-AC0C-55D3F6E615F8}" type="presParOf" srcId="{5EC4E521-6DD9-4317-A86C-2BD397B62C88}" destId="{D29C6898-997D-4AB4-B74D-F9DECD02A103}" srcOrd="0" destOrd="0" presId="urn:microsoft.com/office/officeart/2005/8/layout/chevron1"/>
    <dgm:cxn modelId="{121BA274-A36A-42EF-948B-FC87919B23A9}" type="presParOf" srcId="{5EC4E521-6DD9-4317-A86C-2BD397B62C88}" destId="{68B1A0C5-E8CA-40FA-A7BB-C328337F1167}" srcOrd="1" destOrd="0" presId="urn:microsoft.com/office/officeart/2005/8/layout/chevron1"/>
    <dgm:cxn modelId="{096AEA5F-AAFE-4C26-8C15-8AC72352EC05}" type="presParOf" srcId="{5EC4E521-6DD9-4317-A86C-2BD397B62C88}" destId="{0DB28FA8-D6B6-4628-84A6-716BC7143F54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9C6898-997D-4AB4-B74D-F9DECD02A103}">
      <dsp:nvSpPr>
        <dsp:cNvPr id="0" name=""/>
        <dsp:cNvSpPr/>
      </dsp:nvSpPr>
      <dsp:spPr>
        <a:xfrm>
          <a:off x="0" y="0"/>
          <a:ext cx="2677496" cy="125984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b="1" kern="1200" dirty="0" smtClean="0"/>
            <a:t>Anamnese Extrafísica</a:t>
          </a:r>
          <a:endParaRPr lang="pt-BR" sz="1800" b="1" kern="1200" dirty="0"/>
        </a:p>
      </dsp:txBody>
      <dsp:txXfrm>
        <a:off x="629920" y="0"/>
        <a:ext cx="1417656" cy="1259840"/>
      </dsp:txXfrm>
    </dsp:sp>
    <dsp:sp modelId="{0DB28FA8-D6B6-4628-84A6-716BC7143F54}">
      <dsp:nvSpPr>
        <dsp:cNvPr id="0" name=""/>
        <dsp:cNvSpPr/>
      </dsp:nvSpPr>
      <dsp:spPr>
        <a:xfrm>
          <a:off x="2679536" y="0"/>
          <a:ext cx="2947842" cy="125984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b="1" kern="1200" dirty="0" smtClean="0"/>
            <a:t>Diagnóstico </a:t>
          </a:r>
          <a:br>
            <a:rPr lang="pt-BR" sz="1800" b="1" kern="1200" dirty="0" smtClean="0"/>
          </a:br>
          <a:r>
            <a:rPr lang="pt-BR" sz="1800" b="1" kern="1200" dirty="0" smtClean="0"/>
            <a:t>Projetivo</a:t>
          </a:r>
          <a:endParaRPr lang="pt-BR" sz="1800" b="1" kern="1200" dirty="0"/>
        </a:p>
      </dsp:txBody>
      <dsp:txXfrm>
        <a:off x="3309456" y="0"/>
        <a:ext cx="1688002" cy="12598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373177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8072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1608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4838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4104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3620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884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3023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2190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3512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1526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86904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47207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48008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84290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52625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29427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76869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365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96226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84105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80802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37930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851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9948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685800" y="1122362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16557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9" name="Shape 19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0" name="Shape 20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n-US" sz="1200" b="0" i="0" u="none" strike="noStrike" cap="none" dirty="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893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64439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5">
            <a:extLst>
              <a:ext uri="{FF2B5EF4-FFF2-40B4-BE49-F238E27FC236}">
                <a16:creationId xmlns:a16="http://schemas.microsoft.com/office/drawing/2014/main" xmlns="" id="{4C376CC1-9D40-4007-A0A2-E73D5CDE0F7B}"/>
              </a:ext>
            </a:extLst>
          </p:cNvPr>
          <p:cNvSpPr/>
          <p:nvPr userDrawn="1"/>
        </p:nvSpPr>
        <p:spPr>
          <a:xfrm>
            <a:off x="5802594" y="8547"/>
            <a:ext cx="3324314" cy="2444096"/>
          </a:xfrm>
          <a:prstGeom prst="rect">
            <a:avLst/>
          </a:prstGeom>
          <a:solidFill>
            <a:schemeClr val="tx1"/>
          </a:solidFill>
          <a:ln w="12700" cap="flat" cmpd="sng">
            <a:solidFill>
              <a:srgbClr val="42719B"/>
            </a:solidFill>
            <a:prstDash val="solid"/>
            <a:miter lim="8000"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800" b="1" i="0" u="none" strike="noStrike" cap="none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NÃO UTILIZAR </a:t>
            </a:r>
            <a:r>
              <a:rPr lang="en-US" sz="1800" b="0" i="0" u="none" strike="noStrike" cap="none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ESTE ESPAÇO, POIS SERÁ EXIBIDA AQUI UMA TELA </a:t>
            </a:r>
            <a:r>
              <a:rPr lang="en-US" sz="1800" b="0" i="1" u="none" strike="noStrike" cap="none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PICTURE-IN-PICTURE</a:t>
            </a:r>
            <a:r>
              <a:rPr lang="en-US" sz="1800" b="0" i="0" u="none" strike="noStrike" cap="none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.  </a:t>
            </a:r>
          </a:p>
        </p:txBody>
      </p:sp>
      <p:sp>
        <p:nvSpPr>
          <p:cNvPr id="3" name="Shape 96">
            <a:extLst>
              <a:ext uri="{FF2B5EF4-FFF2-40B4-BE49-F238E27FC236}">
                <a16:creationId xmlns:a16="http://schemas.microsoft.com/office/drawing/2014/main" xmlns="" id="{C30B2ABB-02DB-4628-A189-2F680AA30CAA}"/>
              </a:ext>
            </a:extLst>
          </p:cNvPr>
          <p:cNvSpPr/>
          <p:nvPr userDrawn="1"/>
        </p:nvSpPr>
        <p:spPr>
          <a:xfrm>
            <a:off x="0" y="5879506"/>
            <a:ext cx="9126908" cy="969948"/>
          </a:xfrm>
          <a:prstGeom prst="rect">
            <a:avLst/>
          </a:prstGeom>
          <a:solidFill>
            <a:schemeClr val="tx1"/>
          </a:solidFill>
          <a:ln w="12700" cap="flat" cmpd="sng">
            <a:solidFill>
              <a:srgbClr val="42719B"/>
            </a:solidFill>
            <a:prstDash val="solid"/>
            <a:miter lim="8000"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800" b="1" i="0" u="none" strike="noStrike" cap="none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NÃO UTILIZAR </a:t>
            </a:r>
            <a:r>
              <a:rPr lang="en-US" sz="1800" b="0" i="0" u="none" strike="noStrike" cap="none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ESTE ESPAÇO. </a:t>
            </a:r>
          </a:p>
        </p:txBody>
      </p:sp>
    </p:spTree>
    <p:extLst>
      <p:ext uri="{BB962C8B-B14F-4D97-AF65-F5344CB8AC3E}">
        <p14:creationId xmlns:p14="http://schemas.microsoft.com/office/powerpoint/2010/main" val="121098121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7533F76-5339-4B7E-8F55-1EB403C773A0}"/>
              </a:ext>
            </a:extLst>
          </p:cNvPr>
          <p:cNvGrpSpPr/>
          <p:nvPr/>
        </p:nvGrpSpPr>
        <p:grpSpPr>
          <a:xfrm>
            <a:off x="-172559" y="3386327"/>
            <a:ext cx="9144000" cy="3387310"/>
            <a:chOff x="-27432" y="3235160"/>
            <a:chExt cx="9144000" cy="2939657"/>
          </a:xfrm>
        </p:grpSpPr>
        <p:sp>
          <p:nvSpPr>
            <p:cNvPr id="11" name="Shape 88">
              <a:extLst>
                <a:ext uri="{FF2B5EF4-FFF2-40B4-BE49-F238E27FC236}">
                  <a16:creationId xmlns:a16="http://schemas.microsoft.com/office/drawing/2014/main" xmlns="" id="{0F574906-176D-4157-B688-9716F132B9BA}"/>
                </a:ext>
              </a:extLst>
            </p:cNvPr>
            <p:cNvSpPr txBox="1"/>
            <p:nvPr/>
          </p:nvSpPr>
          <p:spPr>
            <a:xfrm>
              <a:off x="1860804" y="5065776"/>
              <a:ext cx="5367529" cy="59436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6800" rIns="90000" bIns="46800" anchor="t" anchorCtr="0">
              <a:noAutofit/>
            </a:bodyPr>
            <a:lstStyle/>
            <a:p>
              <a:pPr marL="0" marR="0" lvl="0" indent="0" algn="ctr" rtl="0">
                <a:spcBef>
                  <a:spcPts val="1200"/>
                </a:spcBef>
                <a:spcAft>
                  <a:spcPts val="1200"/>
                </a:spcAft>
                <a:buClr>
                  <a:srgbClr val="1F4E79"/>
                </a:buClr>
                <a:buSzPct val="25000"/>
                <a:buFont typeface="Verdana"/>
                <a:buNone/>
              </a:pPr>
              <a:r>
                <a:rPr lang="en-US" sz="3000" b="1" i="0" u="none" strike="noStrike" cap="none" dirty="0" smtClean="0">
                  <a:solidFill>
                    <a:srgbClr val="002060"/>
                  </a:solidFill>
                  <a:latin typeface="Verdana"/>
                  <a:ea typeface="Verdana"/>
                  <a:cs typeface="Verdana"/>
                  <a:sym typeface="Verdana"/>
                </a:rPr>
                <a:t>Maximiliano Haymann</a:t>
              </a:r>
              <a:endParaRPr lang="en-US" sz="3000" b="1" i="0" u="none" strike="noStrike" cap="none" dirty="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2" name="Shape 89">
              <a:extLst>
                <a:ext uri="{FF2B5EF4-FFF2-40B4-BE49-F238E27FC236}">
                  <a16:creationId xmlns:a16="http://schemas.microsoft.com/office/drawing/2014/main" xmlns="" id="{F68B1B58-A9B7-4FA4-ACB3-0C9E6F43C76F}"/>
                </a:ext>
              </a:extLst>
            </p:cNvPr>
            <p:cNvSpPr txBox="1"/>
            <p:nvPr/>
          </p:nvSpPr>
          <p:spPr>
            <a:xfrm>
              <a:off x="-27432" y="3235160"/>
              <a:ext cx="9144000" cy="128016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6800" rIns="90000" bIns="46800" anchor="ctr" anchorCtr="0">
              <a:noAutofit/>
            </a:bodyPr>
            <a:lstStyle/>
            <a:p>
              <a:pPr lvl="0" algn="ctr">
                <a:lnSpc>
                  <a:spcPct val="110000"/>
                </a:lnSpc>
                <a:buClr>
                  <a:srgbClr val="1F4E79"/>
                </a:buClr>
                <a:buSzPct val="25000"/>
              </a:pPr>
              <a:r>
                <a:rPr lang="en-US" sz="3200" b="1" spc="110" dirty="0" smtClean="0">
                  <a:solidFill>
                    <a:schemeClr val="tx1"/>
                  </a:solidFill>
                  <a:latin typeface="Verdana"/>
                  <a:ea typeface="Verdana"/>
                  <a:cs typeface="Verdana"/>
                  <a:sym typeface="Verdana"/>
                </a:rPr>
                <a:t>Megateleparassemiologia: Experimentos de Diagnóstico Projetivo</a:t>
              </a:r>
              <a:endParaRPr lang="en-US" sz="3200" b="1" spc="11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9CFC36AA-6664-4457-839A-945FF85FF12B}"/>
                </a:ext>
              </a:extLst>
            </p:cNvPr>
            <p:cNvSpPr/>
            <p:nvPr/>
          </p:nvSpPr>
          <p:spPr>
            <a:xfrm>
              <a:off x="2656459" y="4515320"/>
              <a:ext cx="3603230" cy="46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lnSpc>
                  <a:spcPct val="110000"/>
                </a:lnSpc>
                <a:spcBef>
                  <a:spcPts val="600"/>
                </a:spcBef>
                <a:buClr>
                  <a:srgbClr val="1F4E79"/>
                </a:buClr>
                <a:buSzPct val="25000"/>
              </a:pPr>
              <a:r>
                <a:rPr lang="en-US" sz="2400" b="1" spc="110" dirty="0" smtClean="0">
                  <a:solidFill>
                    <a:srgbClr val="E7E6E6">
                      <a:lumMod val="50000"/>
                    </a:srgbClr>
                  </a:solidFill>
                  <a:latin typeface="Verdana"/>
                  <a:ea typeface="Verdana"/>
                  <a:cs typeface="Verdana"/>
                  <a:sym typeface="Verdana"/>
                </a:rPr>
                <a:t>(Parassemiologia)</a:t>
              </a:r>
              <a:endParaRPr lang="en-US" sz="3600" b="1" spc="110" dirty="0"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B6217E55-3BB1-4251-BD2E-EE59C6A00B61}"/>
                </a:ext>
              </a:extLst>
            </p:cNvPr>
            <p:cNvSpPr/>
            <p:nvPr/>
          </p:nvSpPr>
          <p:spPr>
            <a:xfrm>
              <a:off x="3216320" y="5694033"/>
              <a:ext cx="2656496" cy="4807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spcBef>
                  <a:spcPts val="600"/>
                </a:spcBef>
                <a:buClr>
                  <a:srgbClr val="000000"/>
                </a:buClr>
                <a:buSzPct val="25000"/>
              </a:pPr>
              <a:r>
                <a:rPr lang="en-US" sz="3000" b="1" dirty="0" smtClean="0">
                  <a:solidFill>
                    <a:srgbClr val="FF931F"/>
                  </a:solidFill>
                  <a:latin typeface="Verdana"/>
                  <a:ea typeface="Verdana"/>
                  <a:cs typeface="Verdana"/>
                  <a:sym typeface="Verdana"/>
                </a:rPr>
                <a:t>06.01.2019</a:t>
              </a:r>
              <a:endParaRPr lang="en-US" sz="3000" b="1" dirty="0">
                <a:solidFill>
                  <a:srgbClr val="1F4E79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/>
        </p:nvSpPr>
        <p:spPr>
          <a:xfrm>
            <a:off x="362266" y="1258887"/>
            <a:ext cx="8355014" cy="47085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r>
              <a:rPr lang="en-US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800" b="1" dirty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</a:t>
            </a:r>
            <a:r>
              <a:rPr lang="en-US" sz="2800" b="1" dirty="0" smtClean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edicina Projetiva.</a:t>
            </a:r>
            <a:endParaRPr lang="en-US" sz="2800" b="1" dirty="0">
              <a:solidFill>
                <a:srgbClr val="F2F2F2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buSzPct val="25000"/>
            </a:pPr>
            <a:r>
              <a:rPr lang="en-US" sz="1100" dirty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/>
            </a:r>
            <a:br>
              <a:rPr lang="en-US" sz="1100" dirty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</a:b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 II. </a:t>
            </a:r>
            <a:r>
              <a:rPr lang="en-US" sz="2800" b="1" dirty="0" smtClean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Modalidades de diagnóstico </a:t>
            </a:r>
          </a:p>
          <a:p>
            <a:pPr lvl="0">
              <a:buSzPct val="25000"/>
            </a:pPr>
            <a:r>
              <a:rPr lang="en-US" sz="2800" b="1" dirty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sz="2800" b="1" dirty="0" smtClean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     projetivo.</a:t>
            </a:r>
            <a:endParaRPr lang="en-US" sz="2800" b="1" dirty="0">
              <a:solidFill>
                <a:srgbClr val="F2F2F2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buSzPct val="25000"/>
            </a:pPr>
            <a:r>
              <a:rPr lang="en-US" sz="1100" dirty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/>
            </a:r>
            <a:br>
              <a:rPr lang="en-US" sz="1100" dirty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</a:b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III. </a:t>
            </a:r>
            <a:r>
              <a:rPr lang="en-US" sz="2800" b="1" dirty="0" smtClean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Projecioterapia.</a:t>
            </a:r>
            <a:endParaRPr lang="en-US" sz="2800" b="1" i="0" u="none" strike="noStrike" cap="none" dirty="0" smtClean="0">
              <a:solidFill>
                <a:srgbClr val="F2F2F2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buSzPct val="25000"/>
            </a:pPr>
            <a:r>
              <a:rPr lang="en-US" sz="1100" b="0" i="0" u="none" strike="noStrike" cap="none" dirty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/>
            </a:r>
            <a:br>
              <a:rPr lang="en-US" sz="1100" b="0" i="0" u="none" strike="noStrike" cap="none" dirty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</a:b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IV. </a:t>
            </a:r>
            <a:r>
              <a:rPr lang="en-US" sz="2800" b="1" dirty="0" smtClean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Casuísticas da </a:t>
            </a:r>
            <a:r>
              <a:rPr lang="en-US" sz="2800" b="1" dirty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Megateleparassemiologia</a:t>
            </a:r>
            <a:r>
              <a:rPr lang="en-US" sz="2800" b="1" dirty="0" smtClean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.</a:t>
            </a:r>
            <a:endParaRPr lang="en-US" sz="2800" b="1" i="0" u="none" strike="noStrike" cap="none" dirty="0" smtClean="0">
              <a:solidFill>
                <a:srgbClr val="F2F2F2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100" b="0" i="0" u="none" strike="noStrike" cap="none" dirty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/>
            </a:r>
            <a:br>
              <a:rPr lang="en-US" sz="1100" b="0" i="0" u="none" strike="noStrike" cap="none" dirty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</a:br>
            <a:r>
              <a:rPr lang="en-US" sz="1100" b="0" i="0" u="none" strike="noStrike" cap="none" dirty="0" smtClean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  </a:t>
            </a: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V. </a:t>
            </a:r>
            <a:r>
              <a:rPr lang="en-US" sz="2800" b="1" i="0" u="none" strike="noStrike" cap="none" dirty="0" smtClean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Discussões e </a:t>
            </a:r>
            <a:r>
              <a:rPr lang="en-US" sz="2800" b="1" dirty="0" smtClean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</a:t>
            </a:r>
            <a:r>
              <a:rPr lang="en-US" sz="2800" b="1" i="0" u="none" strike="noStrike" cap="none" dirty="0" smtClean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onclus</a:t>
            </a:r>
            <a:r>
              <a:rPr lang="en-US" sz="2800" b="1" dirty="0" smtClean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ões.</a:t>
            </a:r>
            <a:endParaRPr lang="en-US" sz="2800" b="1" i="0" u="none" strike="noStrike" cap="none" dirty="0">
              <a:solidFill>
                <a:srgbClr val="F2F2F2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i="0" u="none" strike="noStrike" cap="none" dirty="0">
              <a:solidFill>
                <a:srgbClr val="F2F2F2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VI. </a:t>
            </a:r>
            <a:r>
              <a:rPr lang="en-US" sz="2800" b="1" i="0" u="none" strike="noStrike" cap="none" dirty="0" smtClean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Debate com o </a:t>
            </a:r>
            <a:r>
              <a:rPr lang="pt-BR" sz="2800" b="1" i="0" u="none" strike="noStrike" cap="none" dirty="0" smtClean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público.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i="0" u="none" strike="noStrike" cap="none" dirty="0">
              <a:solidFill>
                <a:srgbClr val="F2F2F2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62266" y="222567"/>
            <a:ext cx="16610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SUMÁRIO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199438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14467" y="272909"/>
            <a:ext cx="37185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MEDICINA PROJETIVA</a:t>
            </a:r>
            <a:endParaRPr lang="pt-BR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1895867973"/>
              </p:ext>
            </p:extLst>
          </p:nvPr>
        </p:nvGraphicFramePr>
        <p:xfrm>
          <a:off x="449747" y="3758503"/>
          <a:ext cx="6530173" cy="1259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5" name="Grupo 4"/>
          <p:cNvGrpSpPr/>
          <p:nvPr/>
        </p:nvGrpSpPr>
        <p:grpSpPr>
          <a:xfrm>
            <a:off x="6055361" y="3758503"/>
            <a:ext cx="2722879" cy="1259840"/>
            <a:chOff x="3699235" y="307814"/>
            <a:chExt cx="4197388" cy="1093998"/>
          </a:xfrm>
        </p:grpSpPr>
        <p:sp>
          <p:nvSpPr>
            <p:cNvPr id="6" name="Divisa 5"/>
            <p:cNvSpPr/>
            <p:nvPr/>
          </p:nvSpPr>
          <p:spPr>
            <a:xfrm>
              <a:off x="3699235" y="307814"/>
              <a:ext cx="4197388" cy="1093998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Divisa 4"/>
            <p:cNvSpPr/>
            <p:nvPr/>
          </p:nvSpPr>
          <p:spPr>
            <a:xfrm>
              <a:off x="3699235" y="307814"/>
              <a:ext cx="4197388" cy="10939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011" tIns="29337" rIns="29337" bIns="29337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800" b="1" kern="1200" dirty="0" smtClean="0"/>
                <a:t>Terapêutica      Projetiva</a:t>
              </a:r>
              <a:endParaRPr lang="pt-BR" sz="2000" b="1" kern="1200" dirty="0"/>
            </a:p>
          </p:txBody>
        </p:sp>
      </p:grpSp>
      <p:sp>
        <p:nvSpPr>
          <p:cNvPr id="8" name="Retângulo 7"/>
          <p:cNvSpPr/>
          <p:nvPr/>
        </p:nvSpPr>
        <p:spPr>
          <a:xfrm>
            <a:off x="233680" y="1177015"/>
            <a:ext cx="567944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-Roman"/>
              </a:rPr>
              <a:t>Fazem </a:t>
            </a:r>
            <a:r>
              <a:rPr lang="pt-BR" sz="2000" dirty="0">
                <a:solidFill>
                  <a:schemeClr val="bg1"/>
                </a:solidFill>
                <a:latin typeface="Times-Roman"/>
              </a:rPr>
              <a:t>parte da </a:t>
            </a:r>
            <a:r>
              <a:rPr lang="pt-BR" sz="2000" b="1" dirty="0">
                <a:solidFill>
                  <a:schemeClr val="bg1"/>
                </a:solidFill>
                <a:latin typeface="Times-Roman"/>
              </a:rPr>
              <a:t>Medicina Projetiva </a:t>
            </a:r>
            <a:r>
              <a:rPr lang="pt-BR" sz="2000" dirty="0" smtClean="0">
                <a:solidFill>
                  <a:schemeClr val="bg1"/>
                </a:solidFill>
                <a:latin typeface="Times-Roman"/>
              </a:rPr>
              <a:t>ou </a:t>
            </a:r>
            <a:r>
              <a:rPr lang="pt-BR" sz="2000" b="1" dirty="0" smtClean="0">
                <a:solidFill>
                  <a:schemeClr val="bg1"/>
                </a:solidFill>
                <a:latin typeface="Times-Roman"/>
              </a:rPr>
              <a:t>Projeciatria</a:t>
            </a:r>
            <a:r>
              <a:rPr lang="pt-BR" sz="2000" dirty="0" smtClean="0">
                <a:solidFill>
                  <a:schemeClr val="bg1"/>
                </a:solidFill>
                <a:latin typeface="Times-Roman"/>
              </a:rPr>
              <a:t> as 3 </a:t>
            </a:r>
            <a:r>
              <a:rPr lang="pt-BR" sz="2000" dirty="0">
                <a:solidFill>
                  <a:schemeClr val="bg1"/>
                </a:solidFill>
                <a:latin typeface="Times-Roman"/>
              </a:rPr>
              <a:t>técnicas </a:t>
            </a:r>
            <a:r>
              <a:rPr lang="pt-BR" sz="2000" dirty="0" smtClean="0">
                <a:solidFill>
                  <a:schemeClr val="bg1"/>
                </a:solidFill>
                <a:latin typeface="Times-Roman"/>
              </a:rPr>
              <a:t>a seguir:</a:t>
            </a:r>
          </a:p>
          <a:p>
            <a:endParaRPr lang="pt-BR" sz="2000" dirty="0">
              <a:solidFill>
                <a:schemeClr val="bg1"/>
              </a:solidFill>
              <a:latin typeface="Times-Roman"/>
            </a:endParaRPr>
          </a:p>
          <a:p>
            <a:r>
              <a:rPr lang="pt-BR" sz="2000" dirty="0">
                <a:solidFill>
                  <a:schemeClr val="bg1"/>
                </a:solidFill>
                <a:latin typeface="Times-Roman"/>
              </a:rPr>
              <a:t>1. Anamnese extrafísica.</a:t>
            </a:r>
          </a:p>
          <a:p>
            <a:r>
              <a:rPr lang="pt-BR" sz="2000" dirty="0">
                <a:solidFill>
                  <a:schemeClr val="bg1"/>
                </a:solidFill>
                <a:latin typeface="Times-Roman"/>
              </a:rPr>
              <a:t>2. Diagnóstico </a:t>
            </a:r>
            <a:r>
              <a:rPr lang="pt-BR" sz="2000" dirty="0" smtClean="0">
                <a:solidFill>
                  <a:schemeClr val="bg1"/>
                </a:solidFill>
                <a:latin typeface="Times-Roman"/>
              </a:rPr>
              <a:t>projetivo ou teleparassemiologia.</a:t>
            </a:r>
            <a:endParaRPr lang="pt-BR" sz="2000" dirty="0">
              <a:solidFill>
                <a:schemeClr val="bg1"/>
              </a:solidFill>
              <a:latin typeface="Times-Roman"/>
            </a:endParaRPr>
          </a:p>
          <a:p>
            <a:r>
              <a:rPr lang="pt-BR" sz="2000" dirty="0">
                <a:solidFill>
                  <a:schemeClr val="bg1"/>
                </a:solidFill>
                <a:latin typeface="Times-Roman"/>
              </a:rPr>
              <a:t>3. Terapêutica projetiva ou </a:t>
            </a:r>
            <a:r>
              <a:rPr lang="pt-BR" sz="2000" dirty="0" smtClean="0">
                <a:solidFill>
                  <a:schemeClr val="bg1"/>
                </a:solidFill>
                <a:latin typeface="Times-Roman"/>
              </a:rPr>
              <a:t>projecioterapia</a:t>
            </a:r>
            <a:r>
              <a:rPr lang="pt-BR" sz="2000" dirty="0">
                <a:solidFill>
                  <a:schemeClr val="bg1"/>
                </a:solidFill>
                <a:latin typeface="Times-Roman"/>
              </a:rPr>
              <a:t>.</a:t>
            </a:r>
            <a:endParaRPr lang="pt-B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64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663106" y="242429"/>
            <a:ext cx="434577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DIAGNÓSTICO PROJETIVO</a:t>
            </a:r>
          </a:p>
          <a:p>
            <a:pPr algn="ctr"/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(Parafenomenologia)</a:t>
            </a:r>
            <a:endParaRPr lang="pt-BR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254000" y="1326724"/>
            <a:ext cx="55575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Identificar enfermidade </a:t>
            </a:r>
            <a:r>
              <a:rPr lang="pt-BR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baseando-se no exame extrafísico </a:t>
            </a:r>
            <a:r>
              <a:rPr lang="pt-BR" sz="24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 </a:t>
            </a:r>
            <a:r>
              <a:rPr lang="pt-BR" sz="2400" i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evoluciente</a:t>
            </a:r>
            <a:r>
              <a:rPr lang="pt-BR" sz="24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t-BR" sz="24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feito </a:t>
            </a:r>
            <a:r>
              <a:rPr lang="pt-BR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fisicamente à distância, mas </a:t>
            </a:r>
            <a:r>
              <a:rPr lang="pt-BR" sz="24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diretamente...</a:t>
            </a:r>
          </a:p>
          <a:p>
            <a:endParaRPr lang="pt-BR" sz="2400" dirty="0" smtClean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541186" y="2896384"/>
            <a:ext cx="74980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1. </a:t>
            </a:r>
            <a:r>
              <a:rPr lang="pt-BR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sob transe hipnótico, </a:t>
            </a:r>
          </a:p>
          <a:p>
            <a:pPr lvl="0"/>
            <a:r>
              <a:rPr lang="pt-BR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2. </a:t>
            </a:r>
            <a:r>
              <a:rPr lang="pt-BR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através do fenômeno da clarividência viajora</a:t>
            </a:r>
            <a:r>
              <a:rPr lang="pt-BR" sz="2400" dirty="0" smtClean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pt-BR" sz="240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pt-BR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3. </a:t>
            </a:r>
            <a:r>
              <a:rPr lang="pt-BR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pelo projetor(a) semiprojetado, </a:t>
            </a:r>
          </a:p>
          <a:p>
            <a:pPr lvl="0"/>
            <a:r>
              <a:rPr lang="pt-BR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4. </a:t>
            </a:r>
            <a:r>
              <a:rPr lang="pt-BR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pelo projetor(a) projetado.</a:t>
            </a:r>
          </a:p>
        </p:txBody>
      </p:sp>
      <p:sp>
        <p:nvSpPr>
          <p:cNvPr id="10" name="Retângulo 9"/>
          <p:cNvSpPr/>
          <p:nvPr/>
        </p:nvSpPr>
        <p:spPr>
          <a:xfrm>
            <a:off x="5704839" y="4252684"/>
            <a:ext cx="288577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Estados de Lucidez:</a:t>
            </a:r>
          </a:p>
          <a:p>
            <a:r>
              <a:rPr lang="pt-BR" sz="24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- </a:t>
            </a:r>
            <a:r>
              <a:rPr lang="pt-BR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Consciente.</a:t>
            </a:r>
          </a:p>
          <a:p>
            <a:r>
              <a:rPr lang="pt-BR" sz="24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- Semiconsciente.</a:t>
            </a:r>
            <a:endParaRPr lang="pt-BR" sz="2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4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- </a:t>
            </a:r>
            <a:r>
              <a:rPr lang="pt-BR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Inconsciente.</a:t>
            </a:r>
          </a:p>
        </p:txBody>
      </p:sp>
    </p:spTree>
    <p:extLst>
      <p:ext uri="{BB962C8B-B14F-4D97-AF65-F5344CB8AC3E}">
        <p14:creationId xmlns:p14="http://schemas.microsoft.com/office/powerpoint/2010/main" val="3353468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663106" y="262749"/>
            <a:ext cx="434577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DIAGNÓSTICO PROJETIVO</a:t>
            </a:r>
          </a:p>
          <a:p>
            <a:pPr algn="ctr"/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(Parafenomenologia)</a:t>
            </a:r>
            <a:endParaRPr lang="pt-BR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325120" y="1552082"/>
            <a:ext cx="5557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Experimentos sob </a:t>
            </a:r>
            <a:r>
              <a:rPr lang="pt-BR" sz="2400" b="1" dirty="0" smtClean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transe hipnótico...</a:t>
            </a:r>
            <a:endParaRPr lang="pt-BR" sz="2400" b="1" dirty="0" smtClean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325120" y="5360987"/>
            <a:ext cx="7498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sz="2400" b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Posicionamento pessoal sobre o tema.</a:t>
            </a:r>
            <a:endParaRPr lang="pt-BR" sz="2400" b="1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325120" y="2013747"/>
            <a:ext cx="55575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Realizados em 1998, antes de contato com a Conscienciologia.</a:t>
            </a:r>
          </a:p>
        </p:txBody>
      </p:sp>
      <p:sp>
        <p:nvSpPr>
          <p:cNvPr id="4" name="Retângulo 3"/>
          <p:cNvSpPr/>
          <p:nvPr/>
        </p:nvSpPr>
        <p:spPr>
          <a:xfrm>
            <a:off x="325120" y="3764561"/>
            <a:ext cx="85039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Observação: </a:t>
            </a:r>
            <a:r>
              <a:rPr lang="pt-BR" sz="24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pt-BR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hetero-hipnose</a:t>
            </a:r>
            <a:r>
              <a:rPr lang="pt-BR" sz="24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pode </a:t>
            </a:r>
            <a:r>
              <a:rPr lang="pt-BR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 utilizada </a:t>
            </a:r>
            <a:r>
              <a:rPr lang="pt-BR" sz="24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 </a:t>
            </a:r>
            <a:r>
              <a:rPr lang="pt-BR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obtenção da projeção consciente, contudo estudos demonstram que apenas cerca de 13% das pessoas entram em estado de sonambulismo profundo. </a:t>
            </a:r>
          </a:p>
        </p:txBody>
      </p:sp>
      <p:sp>
        <p:nvSpPr>
          <p:cNvPr id="6" name="Retângulo 5"/>
          <p:cNvSpPr/>
          <p:nvPr/>
        </p:nvSpPr>
        <p:spPr>
          <a:xfrm>
            <a:off x="325120" y="2906798"/>
            <a:ext cx="82985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Fundamento:  </a:t>
            </a:r>
            <a:r>
              <a:rPr lang="pt-BR" sz="24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Projeciologia, Cap. 236: Técnica do Diagnóstico Projetivo (p. 486 a 488).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898623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663106" y="262749"/>
            <a:ext cx="434577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DIAGNÓSTICO PROJETIVO</a:t>
            </a:r>
          </a:p>
          <a:p>
            <a:pPr algn="ctr"/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(Parafenomenologia)</a:t>
            </a:r>
            <a:endParaRPr lang="pt-BR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223520" y="1440295"/>
            <a:ext cx="57099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u="sng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Diagnósticos projetivos </a:t>
            </a:r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 a</a:t>
            </a:r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plicação de </a:t>
            </a:r>
            <a:r>
              <a:rPr lang="pt-BR" sz="20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técnica de hetero-hipnose por sugestão e intensificação do acoplamento </a:t>
            </a:r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áurico</a:t>
            </a:r>
            <a:r>
              <a:rPr lang="pt-BR" sz="20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em 10 sessões:</a:t>
            </a:r>
            <a:endParaRPr lang="pt-BR" sz="2000" dirty="0">
              <a:solidFill>
                <a:schemeClr val="bg1"/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223520" y="2574176"/>
            <a:ext cx="87579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Autoscopia </a:t>
            </a:r>
            <a:r>
              <a:rPr lang="pt-BR" sz="2000" b="1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interna: </a:t>
            </a:r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visão </a:t>
            </a:r>
            <a:r>
              <a:rPr lang="pt-BR" sz="20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do próprio útero, externa e internamente, sendo observada uma pequena ferida no colo do útero, causadora de um pequeno sangramento no dia seguinte.</a:t>
            </a:r>
            <a:endParaRPr lang="pt-BR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223520" y="3678502"/>
            <a:ext cx="87579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Clarividência Viajora: </a:t>
            </a:r>
            <a:r>
              <a:rPr lang="pt-BR" sz="20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ocorreu em mais de uma oportunidade, como por exemplo a visualização de sua mãe sentada no sofá da sala.</a:t>
            </a:r>
          </a:p>
        </p:txBody>
      </p:sp>
      <p:sp>
        <p:nvSpPr>
          <p:cNvPr id="7" name="Retângulo 6"/>
          <p:cNvSpPr/>
          <p:nvPr/>
        </p:nvSpPr>
        <p:spPr>
          <a:xfrm>
            <a:off x="223520" y="4475052"/>
            <a:ext cx="8483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Heteroscopia projetiva: </a:t>
            </a:r>
            <a:r>
              <a:rPr lang="pt-BR" sz="20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realizou a visualização de três dos meus chacras, as fibras, os ligamentos e os pinos de meu joelho direito operado, o coração de uma terceira pessoa “funcionando em dois tempos”, o fluxo sanguíneo em turbilhonamento nas veias </a:t>
            </a:r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 artérias da </a:t>
            </a:r>
            <a:r>
              <a:rPr lang="pt-BR" sz="20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mesma.</a:t>
            </a:r>
            <a:endParaRPr lang="pt-BR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000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663106" y="262749"/>
            <a:ext cx="434577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DIAGNÓSTICO PROJETIVO</a:t>
            </a:r>
          </a:p>
          <a:p>
            <a:pPr algn="ctr"/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(Parafenomenologia)</a:t>
            </a:r>
            <a:endParaRPr lang="pt-BR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325120" y="1552082"/>
            <a:ext cx="5557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Fenômeno da Clarividência Viajora</a:t>
            </a:r>
            <a:r>
              <a:rPr lang="pt-BR" sz="2400" b="1" dirty="0" smtClean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...</a:t>
            </a:r>
            <a:endParaRPr lang="pt-BR" sz="2400" b="1" dirty="0" smtClean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325120" y="3028740"/>
            <a:ext cx="7498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pt-BR" sz="240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325120" y="4783976"/>
            <a:ext cx="84124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Experimentos no </a:t>
            </a:r>
            <a:r>
              <a:rPr lang="pt-BR" sz="2000" i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consultorium</a:t>
            </a:r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consciencioterápico: bagulhos energéticos; conexões interpessoais intrafísicas e extrafísicas; Heteroscopia.</a:t>
            </a:r>
          </a:p>
          <a:p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Obs: há também experimentos interatendimentos.</a:t>
            </a:r>
          </a:p>
        </p:txBody>
      </p:sp>
      <p:sp>
        <p:nvSpPr>
          <p:cNvPr id="3" name="Retângulo 2"/>
          <p:cNvSpPr/>
          <p:nvPr/>
        </p:nvSpPr>
        <p:spPr>
          <a:xfrm>
            <a:off x="325120" y="2504610"/>
            <a:ext cx="58080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Clarividência viajora com autopsicofonia simultânea.</a:t>
            </a:r>
            <a:endParaRPr lang="pt-BR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325120" y="2076536"/>
            <a:ext cx="33281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Clarividência viajora simples.</a:t>
            </a:r>
            <a:endParaRPr lang="pt-BR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325120" y="3028740"/>
            <a:ext cx="874776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Observação: </a:t>
            </a:r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 universo do diagnóstico projetivo na Consciencioterapia extrapola o âmbito das patologias somáticas e da Medicina Projetiva (Projeciatria), pois envolve aspectos holossomáticos, intraconscienciais, extraconscienciais e interconscienciais que ajudem na elucidação dos distúrbios e parapatologias do evoluciente.</a:t>
            </a:r>
            <a:endParaRPr lang="pt-BR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324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592622" y="354508"/>
            <a:ext cx="85513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MEGA</a:t>
            </a:r>
            <a:r>
              <a:rPr lang="pt-BR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TELEPARASSEMIOLOGIA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592622" y="4958258"/>
            <a:ext cx="6641562" cy="10618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800" b="1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Megateleparassemiologia – DAC, página 55.</a:t>
            </a:r>
          </a:p>
          <a:p>
            <a:endParaRPr lang="pt-BR" sz="900" b="1" dirty="0" smtClean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800" b="1" i="1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Técnica do Diagnóstico Projetivo </a:t>
            </a:r>
            <a:r>
              <a:rPr lang="pt-BR" sz="1800" b="1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Projeciologia, páginas 486 a 488.</a:t>
            </a:r>
            <a:endParaRPr lang="pt-BR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pt-BR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663743" y="1092324"/>
            <a:ext cx="487345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0" algn="l"/>
              </a:tabLst>
            </a:pPr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Ciência aplicada aos estudos </a:t>
            </a:r>
            <a:r>
              <a:rPr lang="pt-BR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específicos</a:t>
            </a:r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sistemáticos</a:t>
            </a:r>
            <a:r>
              <a:rPr lang="pt-BR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teáticos ou </a:t>
            </a:r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parapesquisas e </a:t>
            </a:r>
            <a:r>
              <a:rPr lang="pt-BR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paravivências </a:t>
            </a:r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 </a:t>
            </a:r>
            <a:r>
              <a:rPr lang="pt-BR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investigação e identificação, além da </a:t>
            </a:r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intrafisicalidade</a:t>
            </a:r>
            <a:r>
              <a:rPr lang="pt-BR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da </a:t>
            </a:r>
            <a:r>
              <a:rPr lang="pt-BR" sz="2000" dirty="0" err="1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parassinto-matologia</a:t>
            </a:r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dos </a:t>
            </a:r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parassinais dos </a:t>
            </a:r>
            <a:r>
              <a:rPr lang="pt-BR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distúrbios e parapatologias da consciência considerada </a:t>
            </a:r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inteira, </a:t>
            </a:r>
            <a:r>
              <a:rPr lang="pt-BR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holossomática, </a:t>
            </a:r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integral, feitas à distância, pela </a:t>
            </a:r>
            <a:r>
              <a:rPr lang="pt-BR" sz="2000" b="1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projetabilidade lúcida</a:t>
            </a:r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pt-BR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592622" y="4445395"/>
            <a:ext cx="85513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Fontes principais:</a:t>
            </a:r>
          </a:p>
        </p:txBody>
      </p:sp>
      <p:sp>
        <p:nvSpPr>
          <p:cNvPr id="4" name="Retângulo 3"/>
          <p:cNvSpPr/>
          <p:nvPr/>
        </p:nvSpPr>
        <p:spPr>
          <a:xfrm>
            <a:off x="663743" y="3692189"/>
            <a:ext cx="827705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Sinonímia: </a:t>
            </a:r>
            <a:r>
              <a:rPr lang="pt-BR" sz="20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Parassemiologia projetiva; Ciência do diagnóstico pela projeção consciente.</a:t>
            </a:r>
            <a:endParaRPr lang="pt-B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084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428107" y="1180851"/>
            <a:ext cx="7569300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30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ct val="25000"/>
            </a:pPr>
            <a:endParaRPr lang="pt-BR" sz="3200" dirty="0" smtClean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174105" y="414811"/>
            <a:ext cx="560693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DISTÚRBIOS DIAGNOSTICÁVEIS PELA MEGATELEPARASSEMIOLOGIA</a:t>
            </a:r>
            <a:endParaRPr lang="pt-BR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28106" y="3172131"/>
            <a:ext cx="8480258" cy="2380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Descompensações </a:t>
            </a:r>
            <a:r>
              <a:rPr lang="pt-BR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 bloqueios energéticos conscienciais em geral.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Estigmas egocármicos (deslize anticosmoético marcante).</a:t>
            </a:r>
            <a:endParaRPr lang="pt-BR" sz="2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Assédios </a:t>
            </a:r>
            <a:r>
              <a:rPr lang="pt-BR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interconscienciais em </a:t>
            </a: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geral.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Parapsicoses pós-</a:t>
            </a:r>
            <a:r>
              <a:rPr lang="pt-BR" sz="2200" dirty="0" err="1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dessomáticas</a:t>
            </a: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(consciexes).</a:t>
            </a:r>
            <a:endParaRPr lang="pt-BR" sz="2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Parasitismos </a:t>
            </a:r>
            <a:r>
              <a:rPr lang="pt-BR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 possessões energéticas interconscienciais.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Psicoses </a:t>
            </a:r>
            <a:r>
              <a:rPr lang="pt-BR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 geral</a:t>
            </a: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pt-BR" sz="2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428105" y="1725581"/>
            <a:ext cx="535293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Casos patológicos orgânicos consequentes ou desencadeados por distúrbios próprios da parapatologia do holochacra e do psicossoma.</a:t>
            </a:r>
          </a:p>
        </p:txBody>
      </p:sp>
    </p:spTree>
    <p:extLst>
      <p:ext uri="{BB962C8B-B14F-4D97-AF65-F5344CB8AC3E}">
        <p14:creationId xmlns:p14="http://schemas.microsoft.com/office/powerpoint/2010/main" val="394925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428107" y="1180851"/>
            <a:ext cx="7569300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30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ct val="25000"/>
            </a:pPr>
            <a:endParaRPr lang="pt-BR" sz="3200" dirty="0" smtClean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28107" y="195767"/>
            <a:ext cx="855137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CRESCENDO DA </a:t>
            </a:r>
            <a:b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</a:br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MEGATELEPARASSEMIOLOGIA </a:t>
            </a:r>
          </a:p>
          <a:p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PESSOAL</a:t>
            </a:r>
            <a:endParaRPr lang="pt-BR" sz="2800" b="1" dirty="0">
              <a:solidFill>
                <a:srgbClr val="F2F2F2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213361" y="2559871"/>
            <a:ext cx="7947034" cy="4011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0238" indent="-274638">
              <a:spcBef>
                <a:spcPts val="200"/>
              </a:spcBef>
              <a:spcAft>
                <a:spcPts val="200"/>
              </a:spcAft>
              <a:buFontTx/>
              <a:buChar char="-"/>
            </a:pP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Reações emotivas / </a:t>
            </a:r>
            <a:r>
              <a:rPr lang="pt-BR" sz="2200" dirty="0" err="1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autodefensivas</a:t>
            </a: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agressivas</a:t>
            </a: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630238" indent="-274638">
              <a:spcBef>
                <a:spcPts val="200"/>
              </a:spcBef>
              <a:spcAft>
                <a:spcPts val="200"/>
              </a:spcAft>
              <a:buFontTx/>
              <a:buChar char="-"/>
            </a:pP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Carências afetivo-sexuais.</a:t>
            </a:r>
            <a:endParaRPr lang="pt-BR" sz="2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30238" indent="-274638">
              <a:spcBef>
                <a:spcPts val="200"/>
              </a:spcBef>
              <a:spcAft>
                <a:spcPts val="200"/>
              </a:spcAft>
              <a:buFontTx/>
              <a:buChar char="-"/>
            </a:pPr>
            <a:r>
              <a:rPr lang="pt-BR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Medo em certas ocasiões</a:t>
            </a: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630238" indent="-274638">
              <a:spcBef>
                <a:spcPts val="200"/>
              </a:spcBef>
              <a:spcAft>
                <a:spcPts val="200"/>
              </a:spcAft>
              <a:buFontTx/>
              <a:buChar char="-"/>
            </a:pP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Dispersão consciencial.</a:t>
            </a:r>
          </a:p>
          <a:p>
            <a:pPr marL="630238" indent="-274638">
              <a:spcBef>
                <a:spcPts val="200"/>
              </a:spcBef>
              <a:spcAft>
                <a:spcPts val="200"/>
              </a:spcAft>
              <a:buFontTx/>
              <a:buChar char="-"/>
            </a:pP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Intrafisicalização.</a:t>
            </a:r>
            <a:endParaRPr lang="pt-BR" sz="2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30238" indent="-274638">
              <a:spcBef>
                <a:spcPts val="200"/>
              </a:spcBef>
              <a:spcAft>
                <a:spcPts val="200"/>
              </a:spcAft>
              <a:buFontTx/>
              <a:buChar char="-"/>
            </a:pP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Foco nos interesses pessoais.</a:t>
            </a:r>
          </a:p>
          <a:p>
            <a:pPr marL="630238" indent="-274638">
              <a:spcBef>
                <a:spcPts val="200"/>
              </a:spcBef>
              <a:spcAft>
                <a:spcPts val="200"/>
              </a:spcAft>
              <a:buFontTx/>
              <a:buChar char="-"/>
            </a:pP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Projeções </a:t>
            </a:r>
            <a:r>
              <a:rPr lang="pt-BR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às cegas</a:t>
            </a: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630238" indent="-274638">
              <a:spcBef>
                <a:spcPts val="200"/>
              </a:spcBef>
              <a:spcAft>
                <a:spcPts val="200"/>
              </a:spcAft>
              <a:buFontTx/>
              <a:buChar char="-"/>
            </a:pPr>
            <a:r>
              <a:rPr lang="pt-BR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Auto-obsecações extrafísicas.</a:t>
            </a:r>
          </a:p>
          <a:p>
            <a:pPr marL="630238" indent="-274638">
              <a:spcBef>
                <a:spcPts val="200"/>
              </a:spcBef>
              <a:spcAft>
                <a:spcPts val="200"/>
              </a:spcAft>
              <a:buFontTx/>
              <a:buChar char="-"/>
            </a:pPr>
            <a:endParaRPr lang="pt-BR" sz="2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30238" indent="-274638">
              <a:spcBef>
                <a:spcPts val="200"/>
              </a:spcBef>
              <a:spcAft>
                <a:spcPts val="200"/>
              </a:spcAft>
              <a:buFontTx/>
              <a:buChar char="-"/>
            </a:pPr>
            <a:endParaRPr lang="pt-BR" sz="2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213361" y="1656053"/>
            <a:ext cx="5518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Identificação de reações extrafísicas </a:t>
            </a: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pessoais imaturas:</a:t>
            </a:r>
          </a:p>
        </p:txBody>
      </p:sp>
    </p:spTree>
    <p:extLst>
      <p:ext uri="{BB962C8B-B14F-4D97-AF65-F5344CB8AC3E}">
        <p14:creationId xmlns:p14="http://schemas.microsoft.com/office/powerpoint/2010/main" val="204238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428107" y="1180851"/>
            <a:ext cx="7569300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30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ct val="25000"/>
            </a:pPr>
            <a:endParaRPr lang="pt-BR" sz="3200" dirty="0" smtClean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28107" y="195767"/>
            <a:ext cx="855137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CRESCENDO DA </a:t>
            </a:r>
            <a:b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</a:br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MEGATELEPARASSEMIOLOGIA </a:t>
            </a:r>
          </a:p>
          <a:p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PESSOAL</a:t>
            </a:r>
            <a:endParaRPr lang="pt-BR" sz="2800" b="1" dirty="0">
              <a:solidFill>
                <a:srgbClr val="F2F2F2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247667" y="1800793"/>
            <a:ext cx="551417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chemeClr val="bg1"/>
                </a:solidFill>
              </a:rPr>
              <a:t>Identificação inicial das companhias pessoais extrafísicas: amparadores, guias cegos e assediadores (lúcidos, satélites, consener).</a:t>
            </a:r>
          </a:p>
        </p:txBody>
      </p:sp>
      <p:sp>
        <p:nvSpPr>
          <p:cNvPr id="5" name="Retângulo 4"/>
          <p:cNvSpPr/>
          <p:nvPr/>
        </p:nvSpPr>
        <p:spPr>
          <a:xfrm>
            <a:off x="247667" y="3157916"/>
            <a:ext cx="873181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pt-BR" sz="2000" dirty="0">
                <a:solidFill>
                  <a:schemeClr val="bg1"/>
                </a:solidFill>
              </a:rPr>
              <a:t> </a:t>
            </a:r>
            <a:r>
              <a:rPr lang="pt-BR" sz="2000" dirty="0" smtClean="0">
                <a:solidFill>
                  <a:schemeClr val="bg1"/>
                </a:solidFill>
              </a:rPr>
              <a:t>   Ex: Consciex </a:t>
            </a:r>
            <a:r>
              <a:rPr lang="pt-BR" sz="2000" dirty="0">
                <a:solidFill>
                  <a:schemeClr val="bg1"/>
                </a:solidFill>
              </a:rPr>
              <a:t>dando orientações antievolutivas com o intuito de “ajudar”.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chemeClr val="bg1"/>
                </a:solidFill>
              </a:rPr>
              <a:t>Identificação de simbolismos extrafísicos pessoais – </a:t>
            </a:r>
            <a:r>
              <a:rPr lang="pt-BR" sz="2000" i="1" dirty="0" smtClean="0">
                <a:solidFill>
                  <a:schemeClr val="bg1"/>
                </a:solidFill>
              </a:rPr>
              <a:t>onirismo.</a:t>
            </a:r>
            <a:endParaRPr lang="pt-BR" sz="2000" dirty="0" smtClean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chemeClr val="bg1"/>
                </a:solidFill>
              </a:rPr>
              <a:t>Antecipação de eventos intrafísicos críticos.</a:t>
            </a:r>
            <a:endParaRPr lang="pt-BR" sz="2000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chemeClr val="bg1"/>
                </a:solidFill>
              </a:rPr>
              <a:t>Identificação de amparador </a:t>
            </a:r>
            <a:r>
              <a:rPr lang="pt-BR" sz="2000" dirty="0">
                <a:solidFill>
                  <a:schemeClr val="bg1"/>
                </a:solidFill>
              </a:rPr>
              <a:t>de função de docência em curso universitário; </a:t>
            </a:r>
            <a:r>
              <a:rPr lang="pt-BR" sz="2000" dirty="0" smtClean="0">
                <a:solidFill>
                  <a:schemeClr val="bg1"/>
                </a:solidFill>
              </a:rPr>
              <a:t>amparador pessoal e do trabalho institucional de voluntariado.</a:t>
            </a:r>
            <a:endParaRPr lang="pt-BR" sz="2000" dirty="0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pt-BR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71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428107" y="1180851"/>
            <a:ext cx="7569300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30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ct val="25000"/>
            </a:pPr>
            <a:endParaRPr lang="pt-BR" sz="3200" dirty="0" smtClean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28107" y="365242"/>
            <a:ext cx="855137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MEGATELEPARASSEMIOLOGIA </a:t>
            </a:r>
          </a:p>
          <a:p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ASSISTENCIAL</a:t>
            </a:r>
            <a:endParaRPr lang="pt-BR" sz="2800" b="1" dirty="0">
              <a:solidFill>
                <a:srgbClr val="F2F2F2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28107" y="1689855"/>
            <a:ext cx="551417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200" b="1" dirty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Desassédio Extrafísico Direto</a:t>
            </a:r>
          </a:p>
          <a:p>
            <a:endParaRPr lang="pt-BR" sz="2200" b="1" dirty="0">
              <a:solidFill>
                <a:srgbClr val="F2F2F2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r>
              <a:rPr lang="pt-BR" sz="2200" dirty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Nos casos de interferências diretas de personalidades extrafísicas intrusas ou assédios de consciexes, o </a:t>
            </a:r>
            <a:r>
              <a:rPr lang="pt-BR" sz="2200" dirty="0" smtClean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projetor </a:t>
            </a:r>
            <a:r>
              <a:rPr lang="pt-BR" sz="2200" dirty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projetado através do psicossoma, promove a confrontação direta (acareação extrafísica) com as consciexes atuantes em um serviço de desassédio extrafísico direto.</a:t>
            </a:r>
          </a:p>
        </p:txBody>
      </p:sp>
    </p:spTree>
    <p:extLst>
      <p:ext uri="{BB962C8B-B14F-4D97-AF65-F5344CB8AC3E}">
        <p14:creationId xmlns:p14="http://schemas.microsoft.com/office/powerpoint/2010/main" val="205906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428107" y="1180851"/>
            <a:ext cx="7569300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30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ct val="25000"/>
            </a:pPr>
            <a:endParaRPr lang="pt-BR" sz="3200" dirty="0" smtClean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58942" y="3843117"/>
            <a:ext cx="855137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200" b="1" dirty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Medicina – </a:t>
            </a:r>
            <a:r>
              <a:rPr lang="pt-BR" sz="2200" dirty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Aborda o corpo humano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200" b="1" dirty="0" smtClean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Acupuntura – </a:t>
            </a:r>
            <a:r>
              <a:rPr lang="pt-BR" sz="2200" dirty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Aborda o </a:t>
            </a:r>
            <a:r>
              <a:rPr lang="pt-BR" sz="2200" dirty="0" smtClean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energossoma</a:t>
            </a:r>
            <a:endParaRPr lang="pt-BR" sz="2200" dirty="0">
              <a:solidFill>
                <a:srgbClr val="F2F2F2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200" b="1" dirty="0" smtClean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Irradiações a distância – </a:t>
            </a:r>
            <a:r>
              <a:rPr lang="pt-BR" sz="2200" dirty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Aborda o </a:t>
            </a:r>
            <a:r>
              <a:rPr lang="pt-BR" sz="2200" dirty="0" smtClean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psicossoma</a:t>
            </a:r>
            <a:endParaRPr lang="pt-BR" sz="2200" dirty="0">
              <a:solidFill>
                <a:srgbClr val="F2F2F2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200" b="1" dirty="0" smtClean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Projecioterapia – </a:t>
            </a:r>
            <a:r>
              <a:rPr lang="pt-BR" sz="2200" dirty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Aborda </a:t>
            </a:r>
            <a:r>
              <a:rPr lang="pt-BR" sz="2200" dirty="0" smtClean="0">
                <a:solidFill>
                  <a:srgbClr val="F2F2F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todos os 4 veículos, notadamente o mentalsoma.</a:t>
            </a:r>
            <a:endParaRPr lang="pt-BR" sz="2200" dirty="0">
              <a:solidFill>
                <a:srgbClr val="F2F2F2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358942" y="934629"/>
            <a:ext cx="5198578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2200" b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Classificação:</a:t>
            </a: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técnica </a:t>
            </a:r>
            <a:r>
              <a:rPr lang="pt-BR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cura à </a:t>
            </a: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distância (mas exercida </a:t>
            </a:r>
            <a:r>
              <a:rPr lang="pt-BR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diretamente, do lado </a:t>
            </a: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extrafísico).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2200" b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Método: </a:t>
            </a: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aplicação das ECs no energossoma e </a:t>
            </a:r>
            <a:r>
              <a:rPr lang="pt-BR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psicossoma do(a) </a:t>
            </a: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assistido, ou pela </a:t>
            </a:r>
            <a:r>
              <a:rPr lang="pt-BR" sz="2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atuação da vontade diretamente do </a:t>
            </a:r>
            <a:r>
              <a:rPr lang="pt-BR" sz="2200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mentalsoma.</a:t>
            </a:r>
            <a:endParaRPr lang="pt-BR" sz="2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358942" y="226744"/>
            <a:ext cx="855137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PROJECIOTERAPIA</a:t>
            </a:r>
            <a:endParaRPr lang="pt-BR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</a:endParaRPr>
          </a:p>
          <a:p>
            <a:endParaRPr lang="pt-BR" sz="2800" b="1" dirty="0">
              <a:solidFill>
                <a:srgbClr val="F2F2F2"/>
              </a:solidFill>
              <a:latin typeface="+mj-l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9057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428107" y="1180851"/>
            <a:ext cx="7569300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30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ct val="25000"/>
            </a:pPr>
            <a:endParaRPr lang="pt-BR" sz="3200" dirty="0" smtClean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73664" y="2189765"/>
            <a:ext cx="871589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400" b="1" dirty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FontTx/>
              <a:buChar char="-"/>
            </a:pPr>
            <a:r>
              <a:rPr lang="pt-BR" sz="24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Local. </a:t>
            </a:r>
            <a:r>
              <a:rPr lang="pt-BR" sz="24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Quissamã, Rio de Janeiro.</a:t>
            </a:r>
          </a:p>
          <a:p>
            <a:pPr marL="457200" indent="-457200">
              <a:buFontTx/>
              <a:buChar char="-"/>
            </a:pPr>
            <a:r>
              <a:rPr lang="pt-BR" sz="24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Assistência. </a:t>
            </a:r>
            <a:r>
              <a:rPr lang="pt-BR" sz="24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Suporte na estruturação de hospital da cidade.</a:t>
            </a:r>
            <a:endParaRPr lang="pt-BR" sz="2400" b="1" dirty="0" smtClean="0">
              <a:solidFill>
                <a:srgbClr val="F2F2F2"/>
              </a:solidFill>
              <a:latin typeface="Calibri"/>
              <a:ea typeface="Calibri"/>
              <a:cs typeface="Calibri"/>
              <a:sym typeface="Wingdings" panose="05000000000000000000" pitchFamily="2" charset="2"/>
            </a:endParaRPr>
          </a:p>
          <a:p>
            <a:pPr marL="457200" indent="-457200">
              <a:buFontTx/>
              <a:buChar char="-"/>
            </a:pPr>
            <a:r>
              <a:rPr lang="pt-BR" sz="24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Contato inicial. </a:t>
            </a:r>
            <a:r>
              <a:rPr lang="pt-BR" sz="24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Percepções Iniciais da cidade.</a:t>
            </a:r>
          </a:p>
          <a:p>
            <a:pPr marL="457200" indent="-457200">
              <a:buFontTx/>
              <a:buChar char="-"/>
            </a:pPr>
            <a:r>
              <a:rPr lang="pt-BR" sz="24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Telediagnóstico projetivo. </a:t>
            </a:r>
            <a:r>
              <a:rPr lang="pt-BR" sz="24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Envolvimento na situação.</a:t>
            </a:r>
          </a:p>
          <a:p>
            <a:pPr marL="457200" indent="-457200">
              <a:buFontTx/>
              <a:buChar char="-"/>
            </a:pPr>
            <a:r>
              <a:rPr lang="pt-BR" sz="24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Lucidez. </a:t>
            </a:r>
            <a:r>
              <a:rPr lang="pt-BR" sz="24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De inconsciente a totalmente consciente.</a:t>
            </a:r>
            <a:endParaRPr lang="pt-BR" sz="2400" b="1" dirty="0" smtClean="0">
              <a:solidFill>
                <a:srgbClr val="F2F2F2"/>
              </a:solidFill>
              <a:latin typeface="Calibri"/>
              <a:ea typeface="Calibri"/>
              <a:cs typeface="Calibri"/>
              <a:sym typeface="Wingdings" panose="05000000000000000000" pitchFamily="2" charset="2"/>
            </a:endParaRPr>
          </a:p>
          <a:p>
            <a:pPr marL="457200" indent="-457200">
              <a:buFontTx/>
              <a:buChar char="-"/>
            </a:pPr>
            <a:r>
              <a:rPr lang="pt-BR" sz="24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Autocomprovação intrafísica.</a:t>
            </a:r>
            <a:endParaRPr lang="pt-BR" sz="2400" dirty="0" smtClean="0">
              <a:solidFill>
                <a:srgbClr val="F2F2F2"/>
              </a:solidFill>
              <a:latin typeface="Calibri"/>
              <a:ea typeface="Calibri"/>
              <a:cs typeface="Calibri"/>
              <a:sym typeface="Wingdings" panose="05000000000000000000" pitchFamily="2" charset="2"/>
            </a:endParaRPr>
          </a:p>
          <a:p>
            <a:pPr marL="457200" indent="-457200">
              <a:buFontTx/>
              <a:buChar char="-"/>
            </a:pPr>
            <a:r>
              <a:rPr lang="pt-BR" sz="24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Resultado. </a:t>
            </a:r>
            <a:r>
              <a:rPr lang="pt-BR" sz="24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Sem informações quanto ao resultado posterior.</a:t>
            </a:r>
            <a:endParaRPr lang="pt-BR" sz="2400" dirty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28107" y="1469865"/>
            <a:ext cx="493276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Caso 1. </a:t>
            </a:r>
            <a:r>
              <a:rPr lang="pt-BR" sz="2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Doutrinação religiosa extrafísica.</a:t>
            </a:r>
          </a:p>
        </p:txBody>
      </p:sp>
      <p:sp>
        <p:nvSpPr>
          <p:cNvPr id="4" name="Retângulo 3"/>
          <p:cNvSpPr/>
          <p:nvPr/>
        </p:nvSpPr>
        <p:spPr>
          <a:xfrm>
            <a:off x="373665" y="288072"/>
            <a:ext cx="53057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EXPERIMENTOS DA MEGATELEPARASSEMIOLOGIA 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0652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428107" y="2488743"/>
            <a:ext cx="8715893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pt-BR" sz="22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Assistência. 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Aproximação de conscin jovem para assistir.</a:t>
            </a:r>
          </a:p>
          <a:p>
            <a:pPr marL="457200" indent="-457200">
              <a:buFontTx/>
              <a:buChar char="-"/>
            </a:pPr>
            <a:r>
              <a:rPr lang="pt-BR" sz="22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Perfilologia da conscin: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 inteligência; talento peculiar; impulsividade.</a:t>
            </a:r>
          </a:p>
          <a:p>
            <a:pPr marL="457200" indent="-457200">
              <a:buFontTx/>
              <a:buChar char="-"/>
            </a:pPr>
            <a:r>
              <a:rPr lang="pt-BR" sz="2200" b="1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Telediagnóstico projetivo. 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Observador; pintura; holopensene.</a:t>
            </a:r>
          </a:p>
          <a:p>
            <a:pPr marL="457200" indent="-457200">
              <a:buFontTx/>
              <a:buChar char="-"/>
            </a:pPr>
            <a:r>
              <a:rPr lang="pt-BR" sz="2200" b="1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Lucidez. </a:t>
            </a:r>
            <a:r>
              <a:rPr lang="pt-BR" sz="2200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Semiconsciente, 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consciência </a:t>
            </a:r>
            <a:r>
              <a:rPr lang="pt-BR" sz="2200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extrafísica, sem 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se dar conta da projeção no momento.</a:t>
            </a:r>
            <a:endParaRPr lang="pt-BR" sz="2200" b="1" dirty="0">
              <a:solidFill>
                <a:srgbClr val="F2F2F2"/>
              </a:solidFill>
              <a:latin typeface="Calibri"/>
              <a:ea typeface="Calibri"/>
              <a:cs typeface="Calibri"/>
              <a:sym typeface="Wingdings" panose="05000000000000000000" pitchFamily="2" charset="2"/>
            </a:endParaRPr>
          </a:p>
          <a:p>
            <a:pPr marL="457200" indent="-457200">
              <a:buFontTx/>
              <a:buChar char="-"/>
            </a:pPr>
            <a:r>
              <a:rPr lang="pt-BR" sz="22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Autocomprovação intrafísica. </a:t>
            </a:r>
            <a:endParaRPr lang="pt-BR" sz="2200" dirty="0">
              <a:solidFill>
                <a:srgbClr val="F2F2F2"/>
              </a:solidFill>
              <a:latin typeface="Calibri"/>
              <a:ea typeface="Calibri"/>
              <a:cs typeface="Calibri"/>
              <a:sym typeface="Wingdings" panose="05000000000000000000" pitchFamily="2" charset="2"/>
            </a:endParaRPr>
          </a:p>
          <a:p>
            <a:pPr marL="457200" indent="-457200">
              <a:buFontTx/>
              <a:buChar char="-"/>
            </a:pPr>
            <a:r>
              <a:rPr lang="pt-BR" sz="2200" b="1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Resultado. </a:t>
            </a:r>
            <a:r>
              <a:rPr lang="pt-BR" sz="2200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Sem informações quanto ao resultado posterior.</a:t>
            </a:r>
            <a:endParaRPr lang="pt-BR" sz="2200" dirty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475258" y="1845785"/>
            <a:ext cx="431079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Caso </a:t>
            </a:r>
            <a:r>
              <a:rPr lang="pt-BR" sz="2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2. </a:t>
            </a:r>
            <a:r>
              <a:rPr lang="pt-BR" sz="2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Consciex “dona” de conscin.</a:t>
            </a:r>
            <a:endParaRPr lang="pt-BR" sz="2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373665" y="288072"/>
            <a:ext cx="53057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EXPERIMENTOS DA MEGATELEPARASSEMIOLOGIA 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66921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428107" y="1180851"/>
            <a:ext cx="7569300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30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ct val="25000"/>
            </a:pPr>
            <a:endParaRPr lang="pt-BR" sz="3200" dirty="0" smtClean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576859" y="2668507"/>
            <a:ext cx="871589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pt-BR" sz="22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Assistência. 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Contato com conscin em contexto interassistencial.</a:t>
            </a:r>
          </a:p>
          <a:p>
            <a:pPr marL="457200" indent="-457200">
              <a:buFontTx/>
              <a:buChar char="-"/>
            </a:pPr>
            <a:r>
              <a:rPr lang="pt-BR" sz="22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Perfilologia das conscins: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 há megatrafar envolvido; predisposição à recin.</a:t>
            </a:r>
          </a:p>
          <a:p>
            <a:pPr marL="457200" indent="-457200">
              <a:buFontTx/>
              <a:buChar char="-"/>
            </a:pPr>
            <a:r>
              <a:rPr lang="pt-BR" sz="2200" b="1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Telediagnóstico projetivo. 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observador; participante; ocorrência de algum nível de desassédio.</a:t>
            </a:r>
            <a:endParaRPr lang="pt-BR" sz="2200" b="1" dirty="0" smtClean="0">
              <a:solidFill>
                <a:srgbClr val="F2F2F2"/>
              </a:solidFill>
              <a:latin typeface="Calibri"/>
              <a:ea typeface="Calibri"/>
              <a:cs typeface="Calibri"/>
              <a:sym typeface="Wingdings" panose="05000000000000000000" pitchFamily="2" charset="2"/>
            </a:endParaRPr>
          </a:p>
          <a:p>
            <a:pPr marL="457200" indent="-457200">
              <a:buFontTx/>
              <a:buChar char="-"/>
            </a:pPr>
            <a:r>
              <a:rPr lang="pt-BR" sz="22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Autocomprovação intrafísica. 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Direto com a conscin envolvida.</a:t>
            </a:r>
            <a:endParaRPr lang="pt-BR" sz="2200" b="1" dirty="0" smtClean="0">
              <a:solidFill>
                <a:srgbClr val="F2F2F2"/>
              </a:solidFill>
              <a:latin typeface="Calibri"/>
              <a:ea typeface="Calibri"/>
              <a:cs typeface="Calibri"/>
              <a:sym typeface="Wingdings" panose="05000000000000000000" pitchFamily="2" charset="2"/>
            </a:endParaRPr>
          </a:p>
          <a:p>
            <a:pPr marL="457200" indent="-457200">
              <a:buFontTx/>
              <a:buChar char="-"/>
            </a:pPr>
            <a:r>
              <a:rPr lang="pt-BR" sz="22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Resultado</a:t>
            </a:r>
            <a:r>
              <a:rPr lang="pt-BR" sz="2200" b="1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. 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Desassédio devido o desleamento do </a:t>
            </a:r>
            <a:r>
              <a:rPr lang="pt-BR" sz="2200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contexto extrafísico da 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conscin (revelado ou não).</a:t>
            </a:r>
            <a:endParaRPr lang="pt-BR" sz="2200" dirty="0">
              <a:solidFill>
                <a:srgbClr val="F2F2F2"/>
              </a:solidFill>
              <a:latin typeface="Calibri"/>
              <a:ea typeface="Calibri"/>
              <a:cs typeface="Calibri"/>
              <a:sym typeface="Wingdings" panose="05000000000000000000" pitchFamily="2" charset="2"/>
            </a:endParaRPr>
          </a:p>
          <a:p>
            <a:pPr marL="457200" indent="-457200">
              <a:buFontTx/>
              <a:buChar char="-"/>
            </a:pPr>
            <a:endParaRPr lang="pt-BR" sz="2200" dirty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576859" y="1437174"/>
            <a:ext cx="498066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Caso </a:t>
            </a:r>
            <a:r>
              <a:rPr lang="pt-BR" sz="2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3. </a:t>
            </a:r>
            <a:r>
              <a:rPr lang="pt-BR" sz="2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Grupo extrafísico de assediador da conscin assistida.</a:t>
            </a:r>
            <a:endParaRPr lang="pt-BR" sz="2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373665" y="288072"/>
            <a:ext cx="53057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EXPERIMENTOS DA MEGATELEPARASSEMIOLOGIA 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10776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428107" y="1180851"/>
            <a:ext cx="7569300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30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ct val="25000"/>
            </a:pPr>
            <a:endParaRPr lang="pt-BR" sz="3200" dirty="0" smtClean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73665" y="2471190"/>
            <a:ext cx="8551378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200" b="1" dirty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  <a:p>
            <a:pPr indent="360363">
              <a:buFont typeface="Arial" panose="020B0604020202020204" pitchFamily="34" charset="0"/>
              <a:buChar char="•"/>
            </a:pPr>
            <a:r>
              <a:rPr lang="pt-BR" sz="22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Vivências. 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As experiências podem ocorrer de diferentes pontos de vista:</a:t>
            </a:r>
          </a:p>
          <a:p>
            <a:pPr lvl="2"/>
            <a:r>
              <a:rPr lang="pt-BR" sz="2200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 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    1. Observador não participante e não identificado pelas consciexes.</a:t>
            </a:r>
          </a:p>
          <a:p>
            <a:pPr lvl="2"/>
            <a:r>
              <a:rPr lang="pt-BR" sz="2200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 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    2. Participante direto no contexto, em geral com ações de enfrentamento e desassédio extrafísico direto.</a:t>
            </a:r>
          </a:p>
          <a:p>
            <a:pPr lvl="2"/>
            <a:r>
              <a:rPr lang="pt-BR" sz="2200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 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    3. Como se vivenciasse na parapele da conscin assistida/evoluciente.</a:t>
            </a:r>
            <a:r>
              <a:rPr lang="pt-BR" sz="2400" b="1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 </a:t>
            </a:r>
            <a:endParaRPr lang="pt-BR" sz="2400" b="1" dirty="0" smtClean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  <a:p>
            <a:pPr lvl="2"/>
            <a:endParaRPr lang="pt-BR" sz="2400" b="1" dirty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  <a:p>
            <a:pPr lvl="2"/>
            <a:endParaRPr lang="pt-BR" sz="2200" dirty="0" smtClean="0">
              <a:solidFill>
                <a:srgbClr val="F2F2F2"/>
              </a:solidFill>
              <a:latin typeface="Calibri"/>
              <a:ea typeface="Calibri"/>
              <a:cs typeface="Calibri"/>
              <a:sym typeface="Wingdings" panose="05000000000000000000" pitchFamily="2" charset="2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373665" y="288072"/>
            <a:ext cx="53057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EXPERIMENTOS DA MEGATELEPARASSEMIOLOGIA </a:t>
            </a:r>
            <a:endParaRPr lang="pt-BR" sz="2800" dirty="0"/>
          </a:p>
        </p:txBody>
      </p:sp>
      <p:sp>
        <p:nvSpPr>
          <p:cNvPr id="8" name="Retângulo 7"/>
          <p:cNvSpPr/>
          <p:nvPr/>
        </p:nvSpPr>
        <p:spPr>
          <a:xfrm>
            <a:off x="428107" y="1919514"/>
            <a:ext cx="163217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25000"/>
            </a:pPr>
            <a:r>
              <a:rPr lang="pt-BR" sz="2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DISCUSSÕES</a:t>
            </a:r>
            <a:endParaRPr lang="pt-BR" sz="22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297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428107" y="1180851"/>
            <a:ext cx="7569300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30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ct val="25000"/>
            </a:pPr>
            <a:endParaRPr lang="pt-BR" sz="3200" dirty="0" smtClean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28107" y="2590343"/>
            <a:ext cx="8551378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3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22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Atambia. 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Parece haver algum mecanismo, talvez ajuda externa dos amparadores, para que haja um destemor. </a:t>
            </a:r>
          </a:p>
          <a:p>
            <a:pPr indent="3603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22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Autodefesa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. Uso do mecanismo de reinteriorização somática intencional para autodefesa dos ataques extrafísicos em situações mais críticas.</a:t>
            </a:r>
          </a:p>
          <a:p>
            <a:pPr indent="3603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22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Autodesassédio. 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Parece ser necessário nível consolidado de autodesassédio ou mesmo autodesperticidade inicial para o desenvolvimento das experiências (com maior lucidez).</a:t>
            </a:r>
            <a:endParaRPr lang="pt-BR" sz="2200" b="1" dirty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28107" y="1919514"/>
            <a:ext cx="163217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25000"/>
            </a:pPr>
            <a:r>
              <a:rPr lang="pt-BR" sz="2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DISCUSSÕES</a:t>
            </a:r>
            <a:endParaRPr lang="pt-BR" sz="22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373665" y="288072"/>
            <a:ext cx="53057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EXPERIMENTOS DA MEGATELEPARASSEMIOLOGIA 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80272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428107" y="1180851"/>
            <a:ext cx="7569300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30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ct val="25000"/>
            </a:pPr>
            <a:endParaRPr lang="pt-BR" sz="3200" dirty="0" smtClean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96877" y="2524026"/>
            <a:ext cx="8551378" cy="2916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2200" b="1" dirty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  <a:p>
            <a:pPr indent="36036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22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Saturação</a:t>
            </a:r>
            <a:r>
              <a:rPr lang="pt-BR" sz="22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.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 Parece que a saturação pensênica tem papel na intensificação dos parafenômenos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.</a:t>
            </a:r>
          </a:p>
          <a:p>
            <a:pPr>
              <a:spcAft>
                <a:spcPts val="300"/>
              </a:spcAft>
            </a:pPr>
            <a:endParaRPr lang="pt-BR" sz="2200" dirty="0" smtClean="0">
              <a:solidFill>
                <a:srgbClr val="F2F2F2"/>
              </a:solidFill>
              <a:latin typeface="Calibri"/>
              <a:ea typeface="Calibri"/>
              <a:cs typeface="Calibri"/>
              <a:sym typeface="Wingdings" panose="05000000000000000000" pitchFamily="2" charset="2"/>
            </a:endParaRPr>
          </a:p>
          <a:p>
            <a:pPr indent="36036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22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Intensivo. 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No âmbito do trabalho da OIC foi verificado que os fenômenos ocorrem com maior frequência na modalidade de atendimento intensivo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.</a:t>
            </a:r>
            <a:r>
              <a:rPr lang="pt-BR" sz="2200" b="1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 </a:t>
            </a:r>
            <a:endParaRPr lang="pt-BR" sz="2200" b="1" dirty="0" smtClean="0">
              <a:solidFill>
                <a:srgbClr val="F2F2F2"/>
              </a:solidFill>
              <a:latin typeface="Calibri"/>
              <a:ea typeface="Calibri"/>
              <a:cs typeface="Calibri"/>
              <a:sym typeface="Wingdings" panose="05000000000000000000" pitchFamily="2" charset="2"/>
            </a:endParaRPr>
          </a:p>
          <a:p>
            <a:pPr>
              <a:spcAft>
                <a:spcPts val="300"/>
              </a:spcAft>
            </a:pPr>
            <a:endParaRPr lang="pt-BR" sz="2200" b="1" dirty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28107" y="1881862"/>
            <a:ext cx="163217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25000"/>
            </a:pPr>
            <a:r>
              <a:rPr lang="pt-BR" sz="2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DISCUSSÕES</a:t>
            </a:r>
            <a:endParaRPr lang="pt-BR" sz="22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373665" y="288072"/>
            <a:ext cx="53057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EXPERIMENTOS DA MEGATELEPARASSEMIOLOGIA 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83809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428107" y="1180851"/>
            <a:ext cx="7569300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30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ct val="25000"/>
            </a:pPr>
            <a:endParaRPr lang="pt-BR" sz="3200" dirty="0" smtClean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73665" y="2504516"/>
            <a:ext cx="855137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sz="1800" b="1" dirty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  <a:p>
            <a:pPr indent="360363">
              <a:buFont typeface="Arial" panose="020B0604020202020204" pitchFamily="34" charset="0"/>
              <a:buChar char="•"/>
            </a:pPr>
            <a:r>
              <a:rPr lang="pt-BR" sz="24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Projetores</a:t>
            </a:r>
            <a:r>
              <a:rPr lang="pt-BR" sz="24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. Por quê diversos projetores notórios, a exemplo de Roberto Monroe, ... Não relatam este tipo de experiência? Será que por não terem qualquer tipo de intenção assistencial?</a:t>
            </a:r>
          </a:p>
        </p:txBody>
      </p:sp>
      <p:sp>
        <p:nvSpPr>
          <p:cNvPr id="5" name="Retângulo 4"/>
          <p:cNvSpPr/>
          <p:nvPr/>
        </p:nvSpPr>
        <p:spPr>
          <a:xfrm>
            <a:off x="373665" y="288072"/>
            <a:ext cx="53057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EXPERIMENTOS DA MEGATELEPARASSEMIOLOGIA </a:t>
            </a:r>
            <a:endParaRPr lang="pt-BR" sz="2800" dirty="0"/>
          </a:p>
        </p:txBody>
      </p:sp>
      <p:sp>
        <p:nvSpPr>
          <p:cNvPr id="6" name="Retângulo 5"/>
          <p:cNvSpPr/>
          <p:nvPr/>
        </p:nvSpPr>
        <p:spPr>
          <a:xfrm>
            <a:off x="428107" y="1919514"/>
            <a:ext cx="263084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25000"/>
            </a:pPr>
            <a:r>
              <a:rPr lang="pt-BR" sz="2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QUESTIONAMENTOS</a:t>
            </a:r>
            <a:endParaRPr lang="pt-BR" sz="22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9058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428107" y="1180851"/>
            <a:ext cx="7569300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30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ct val="25000"/>
            </a:pPr>
            <a:endParaRPr lang="pt-BR" sz="3200" dirty="0" smtClean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28107" y="2493267"/>
            <a:ext cx="8637125" cy="4501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Este tipo de </a:t>
            </a:r>
            <a:r>
              <a:rPr lang="pt-BR" sz="2400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experiência pode </a:t>
            </a:r>
            <a:r>
              <a:rPr lang="pt-BR" sz="24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ser...</a:t>
            </a:r>
          </a:p>
          <a:p>
            <a:endParaRPr lang="pt-BR" sz="2400" dirty="0" smtClean="0">
              <a:solidFill>
                <a:srgbClr val="F2F2F2"/>
              </a:solidFill>
              <a:latin typeface="Calibri"/>
              <a:ea typeface="Calibri"/>
              <a:cs typeface="Calibri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Resultado </a:t>
            </a:r>
            <a:r>
              <a:rPr lang="pt-BR" sz="2400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do acoplamento </a:t>
            </a:r>
            <a:r>
              <a:rPr lang="pt-BR" sz="24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profundo com </a:t>
            </a:r>
            <a:r>
              <a:rPr lang="pt-BR" sz="2400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o </a:t>
            </a:r>
            <a:r>
              <a:rPr lang="pt-BR" sz="24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evoluciente?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Leitura parapsíquica da holomemória do evoluciente?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smtClean="0">
                <a:solidFill>
                  <a:srgbClr val="F2F2F2"/>
                </a:solidFill>
                <a:latin typeface="Calibri"/>
                <a:cs typeface="Calibri"/>
                <a:sym typeface="Wingdings" panose="05000000000000000000" pitchFamily="2" charset="2"/>
              </a:rPr>
              <a:t>Transdução do cérebro físico de experiência extrafísica</a:t>
            </a:r>
            <a:r>
              <a:rPr lang="pt-BR" sz="2400" dirty="0" smtClean="0">
                <a:solidFill>
                  <a:srgbClr val="F2F2F2"/>
                </a:solidFill>
                <a:latin typeface="Calibri"/>
                <a:cs typeface="Calibri"/>
                <a:sym typeface="Wingdings" panose="05000000000000000000" pitchFamily="2" charset="2"/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D</a:t>
            </a:r>
            <a:r>
              <a:rPr lang="pt-BR" sz="2400" dirty="0" smtClean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evido </a:t>
            </a:r>
            <a:r>
              <a:rPr lang="pt-BR" sz="2400" dirty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à extensão do campo consciencioterápico</a:t>
            </a:r>
            <a:r>
              <a:rPr lang="pt-BR" sz="24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b="1" dirty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  <a:p>
            <a:r>
              <a:rPr lang="pt-BR" sz="2400" b="1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Assistência. </a:t>
            </a:r>
            <a:r>
              <a:rPr lang="pt-BR" sz="2400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Até onde pode ir a assistência do desassédio extrafísico se a conscin  a ser desassediada não dá abertura?</a:t>
            </a:r>
          </a:p>
          <a:p>
            <a:endParaRPr lang="pt-BR" sz="2400" b="1" dirty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endParaRPr lang="pt-BR" sz="2400" dirty="0"/>
          </a:p>
        </p:txBody>
      </p:sp>
      <p:sp>
        <p:nvSpPr>
          <p:cNvPr id="7" name="Retângulo 6"/>
          <p:cNvSpPr/>
          <p:nvPr/>
        </p:nvSpPr>
        <p:spPr>
          <a:xfrm>
            <a:off x="373665" y="288072"/>
            <a:ext cx="53057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EXPERIMENTOS DA MEGATELEPARASSEMIOLOGIA </a:t>
            </a:r>
            <a:endParaRPr lang="pt-BR" sz="2800" dirty="0"/>
          </a:p>
        </p:txBody>
      </p:sp>
      <p:sp>
        <p:nvSpPr>
          <p:cNvPr id="8" name="Retângulo 7"/>
          <p:cNvSpPr/>
          <p:nvPr/>
        </p:nvSpPr>
        <p:spPr>
          <a:xfrm>
            <a:off x="428107" y="1919514"/>
            <a:ext cx="263084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25000"/>
            </a:pPr>
            <a:r>
              <a:rPr lang="pt-BR" sz="2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QUESTIONAMENTOS</a:t>
            </a:r>
            <a:endParaRPr lang="pt-BR" sz="22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9755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428107" y="1180851"/>
            <a:ext cx="7569300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30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ct val="25000"/>
            </a:pPr>
            <a:endParaRPr lang="pt-BR" sz="3200" dirty="0" smtClean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73665" y="2570023"/>
            <a:ext cx="8551378" cy="3185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363">
              <a:buFont typeface="Arial" panose="020B0604020202020204" pitchFamily="34" charset="0"/>
              <a:buChar char="•"/>
            </a:pPr>
            <a:r>
              <a:rPr lang="pt-BR" sz="22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Trafar. 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Certos trafares são somente a ponta do </a:t>
            </a:r>
            <a:r>
              <a:rPr lang="pt-BR" sz="2200" i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iceberg 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que denotam o envolvimento maior da conscin com as </a:t>
            </a:r>
            <a:r>
              <a:rPr lang="pt-BR" sz="2200" dirty="0" err="1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paracompanhias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 patológicas. Ex: orgulho, problemas com poder e dinheiro, crueldade, promiscuidade.</a:t>
            </a:r>
          </a:p>
          <a:p>
            <a:endParaRPr lang="pt-BR" sz="900" dirty="0" smtClean="0">
              <a:solidFill>
                <a:srgbClr val="F2F2F2"/>
              </a:solidFill>
              <a:latin typeface="Calibri"/>
              <a:ea typeface="Calibri"/>
              <a:cs typeface="Calibri"/>
              <a:sym typeface="Wingdings" panose="05000000000000000000" pitchFamily="2" charset="2"/>
            </a:endParaRPr>
          </a:p>
          <a:p>
            <a:pPr indent="360363">
              <a:buFont typeface="Arial" panose="020B0604020202020204" pitchFamily="34" charset="0"/>
              <a:buChar char="•"/>
            </a:pPr>
            <a:r>
              <a:rPr lang="pt-BR" sz="22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Sexualidade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. Os desvios da sexualidade humana (começando pelos pecadilhos mentais) tem íntima relação com o processo de consciexes exus e </a:t>
            </a:r>
            <a:r>
              <a:rPr lang="pt-BR" sz="2200" dirty="0" err="1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pomba-giras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.</a:t>
            </a:r>
          </a:p>
          <a:p>
            <a:endParaRPr lang="pt-BR" sz="1000" dirty="0" smtClean="0">
              <a:solidFill>
                <a:srgbClr val="F2F2F2"/>
              </a:solidFill>
              <a:latin typeface="Calibri"/>
              <a:ea typeface="Calibri"/>
              <a:cs typeface="Calibri"/>
              <a:sym typeface="Wingdings" panose="05000000000000000000" pitchFamily="2" charset="2"/>
            </a:endParaRPr>
          </a:p>
          <a:p>
            <a:pPr indent="360363">
              <a:buFont typeface="Arial" panose="020B0604020202020204" pitchFamily="34" charset="0"/>
              <a:buChar char="•"/>
            </a:pPr>
            <a:r>
              <a:rPr lang="pt-BR" sz="22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Intensificação. </a:t>
            </a:r>
            <a:r>
              <a:rPr lang="pt-BR" sz="2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Extrapolacionismos e intensificação das predisposições parapsíquicas da conscin ocorrem devido ao envolvimento na assistência.</a:t>
            </a:r>
            <a:endParaRPr lang="pt-BR" sz="2200" b="1" dirty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373665" y="288072"/>
            <a:ext cx="53057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EXPERIMENTOS DA MEGATELEPARASSEMIOLOGIA </a:t>
            </a:r>
            <a:endParaRPr lang="pt-BR" sz="2800" dirty="0"/>
          </a:p>
        </p:txBody>
      </p:sp>
      <p:sp>
        <p:nvSpPr>
          <p:cNvPr id="5" name="Retângulo 4"/>
          <p:cNvSpPr/>
          <p:nvPr/>
        </p:nvSpPr>
        <p:spPr>
          <a:xfrm>
            <a:off x="428107" y="1919514"/>
            <a:ext cx="302679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25000"/>
            </a:pPr>
            <a:r>
              <a:rPr lang="pt-BR" sz="2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ALGUMAS CONCLUSÕES</a:t>
            </a:r>
            <a:endParaRPr lang="pt-BR" sz="22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4337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428107" y="1180851"/>
            <a:ext cx="7569300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30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ct val="25000"/>
            </a:pPr>
            <a:endParaRPr lang="pt-BR" sz="3200" dirty="0" smtClean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47182" y="395783"/>
            <a:ext cx="855137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BIBLIOGRAFIA</a:t>
            </a:r>
            <a:endParaRPr lang="pt-BR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</a:endParaRPr>
          </a:p>
          <a:p>
            <a:endParaRPr lang="pt-BR" sz="1800" b="1" dirty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  <a:p>
            <a:r>
              <a:rPr lang="pt-BR" sz="24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</a:rPr>
              <a:t>1</a:t>
            </a:r>
            <a:r>
              <a:rPr lang="pt-BR" sz="24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. </a:t>
            </a:r>
            <a:r>
              <a:rPr lang="pt-BR" sz="24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Projeciologia, p. 94, 95 e 96. </a:t>
            </a:r>
            <a:endParaRPr lang="pt-BR" sz="2400" b="1" dirty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8284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1304</Words>
  <Application>Microsoft Office PowerPoint</Application>
  <PresentationFormat>Apresentação na tela (4:3)</PresentationFormat>
  <Paragraphs>181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23</vt:i4>
      </vt:variant>
    </vt:vector>
  </HeadingPairs>
  <TitlesOfParts>
    <vt:vector size="32" baseType="lpstr">
      <vt:lpstr>Arial</vt:lpstr>
      <vt:lpstr>Calibri</vt:lpstr>
      <vt:lpstr>Gill Sans MT</vt:lpstr>
      <vt:lpstr>Times New Roman</vt:lpstr>
      <vt:lpstr>Times-Roman</vt:lpstr>
      <vt:lpstr>Verdana</vt:lpstr>
      <vt:lpstr>Wingdings</vt:lpstr>
      <vt:lpstr>1_Office Theme</vt:lpstr>
      <vt:lpstr>2_Office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Edu</dc:creator>
  <cp:lastModifiedBy>Maximiliano Haymann</cp:lastModifiedBy>
  <cp:revision>88</cp:revision>
  <dcterms:modified xsi:type="dcterms:W3CDTF">2019-01-04T12:29:43Z</dcterms:modified>
</cp:coreProperties>
</file>