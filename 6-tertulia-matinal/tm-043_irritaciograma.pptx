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60" r:id="rId5"/>
    <p:sldId id="261" r:id="rId6"/>
    <p:sldId id="263" r:id="rId7"/>
    <p:sldId id="265" r:id="rId8"/>
    <p:sldId id="264" r:id="rId9"/>
    <p:sldId id="268" r:id="rId10"/>
    <p:sldId id="267" r:id="rId11"/>
    <p:sldId id="259" r:id="rId12"/>
    <p:sldId id="269" r:id="rId13"/>
  </p:sldIdLst>
  <p:sldSz cx="9144000" cy="6858000" type="screen4x3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2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E2A1A3-0D2D-4E13-AD3D-BDC52450881D}" type="datetimeFigureOut">
              <a:rPr lang="pt-BR" smtClean="0"/>
              <a:t>17/04/2017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D4AF1E-F6E4-4676-AF27-609ABBB5623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52533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2945658" cy="4963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50442" y="0"/>
            <a:ext cx="2945658" cy="4963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1" y="9428583"/>
            <a:ext cx="2945658" cy="49633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50442" y="9428583"/>
            <a:ext cx="2945658" cy="49633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65812439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7514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1195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1022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04549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56762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04713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62659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4884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74527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14377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36560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hape 98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39" cy="446698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69727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685800" y="1122362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1143000" y="3602037"/>
            <a:ext cx="6858000" cy="1655761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ctr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ctr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ctr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ctr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9" name="Shape 19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0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20" name="Shape 20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en-US" sz="1200" b="0" i="0" u="none" strike="noStrike" cap="none" dirty="0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25" name="Shape 25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0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26" name="Shape 26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en-US" sz="1200" b="0" i="0" u="none" strike="noStrike" cap="none" dirty="0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 txBox="1">
            <a:spLocks noGrp="1"/>
          </p:cNvSpPr>
          <p:nvPr>
            <p:ph type="title"/>
          </p:nvPr>
        </p:nvSpPr>
        <p:spPr>
          <a:xfrm>
            <a:off x="623887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rgbClr val="888888"/>
              </a:buClr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31" name="Shape 31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0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32" name="Shape 32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en-US" sz="1200" b="0" i="0" u="none" strike="noStrike" cap="none" dirty="0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38" name="Shape 38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0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39" name="Shape 39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en-US" sz="1200" b="0" i="0" u="none" strike="noStrike" cap="none" dirty="0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body" idx="2"/>
          </p:nvPr>
        </p:nvSpPr>
        <p:spPr>
          <a:xfrm>
            <a:off x="629841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0" cy="82391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0" cy="36845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7" name="Shape 47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0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8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en-US" sz="1200" b="0" i="0" u="none" strike="noStrike" cap="none" dirty="0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Shape 51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0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en-US" sz="1200" b="0" i="0" u="none" strike="noStrike" cap="none" dirty="0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6" name="Shape 56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0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7" name="Shape 57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en-US" sz="1200" b="0" i="0" u="none" strike="noStrike" cap="none" dirty="0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>
            <a:off x="3887391" y="987425"/>
            <a:ext cx="4629150" cy="48736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marR="0" lvl="0" indent="-25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50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016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Shape 62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63" name="Shape 63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0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64" name="Shape 64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en-US" sz="1200" b="0" i="0" u="none" strike="noStrike" cap="none" dirty="0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1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Shape 67"/>
          <p:cNvSpPr>
            <a:spLocks noGrp="1"/>
          </p:cNvSpPr>
          <p:nvPr>
            <p:ph type="pic" idx="2"/>
          </p:nvPr>
        </p:nvSpPr>
        <p:spPr>
          <a:xfrm>
            <a:off x="3887391" y="987425"/>
            <a:ext cx="4629150" cy="4873624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68" name="Shape 68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70" name="Shape 70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0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71" name="Shape 71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en-US" sz="1200" b="0" i="0" u="none" strike="noStrike" cap="none" dirty="0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Shape 74"/>
          <p:cNvSpPr txBox="1">
            <a:spLocks noGrp="1"/>
          </p:cNvSpPr>
          <p:nvPr>
            <p:ph type="body" idx="1"/>
          </p:nvPr>
        </p:nvSpPr>
        <p:spPr>
          <a:xfrm rot="5400000">
            <a:off x="2396330" y="57943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Shape 75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76" name="Shape 76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0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77" name="Shape 77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en-US" sz="1200" b="0" i="0" u="none" strike="noStrike" cap="none" dirty="0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>
            <a:spLocks noGrp="1"/>
          </p:cNvSpPr>
          <p:nvPr>
            <p:ph type="title"/>
          </p:nvPr>
        </p:nvSpPr>
        <p:spPr>
          <a:xfrm rot="5400000">
            <a:off x="4623593" y="2285206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Shape 80"/>
          <p:cNvSpPr txBox="1">
            <a:spLocks noGrp="1"/>
          </p:cNvSpPr>
          <p:nvPr>
            <p:ph type="body" idx="1"/>
          </p:nvPr>
        </p:nvSpPr>
        <p:spPr>
          <a:xfrm rot="5400000">
            <a:off x="623093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Shape 81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2" name="Shape 82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0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3" name="Shape 83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en-US" sz="1200" b="0" i="0" u="none" strike="noStrike" cap="none" dirty="0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title"/>
          </p:nvPr>
        </p:nvSpPr>
        <p:spPr>
          <a:xfrm>
            <a:off x="628650" y="365125"/>
            <a:ext cx="7886700" cy="1325562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457200" marR="0" lvl="5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914400" marR="0" lvl="6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1371600" marR="0" lvl="7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1828800" marR="0" lvl="8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685800" marR="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971800" marR="0" lvl="6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429000" marR="0" lvl="7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86200" marR="0" lvl="8" indent="-114300" algn="l" rtl="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dt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Shape 13"/>
          <p:cNvSpPr txBox="1">
            <a:spLocks noGrp="1"/>
          </p:cNvSpPr>
          <p:nvPr>
            <p:ph type="ftr" idx="11"/>
          </p:nvPr>
        </p:nvSpPr>
        <p:spPr>
          <a:xfrm>
            <a:off x="3028950" y="6356350"/>
            <a:ext cx="3086099" cy="365125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en-US" sz="1200" b="0" i="0" u="none" strike="noStrike" cap="none" dirty="0">
              <a:solidFill>
                <a:srgbClr val="89898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/>
          <p:nvPr/>
        </p:nvSpPr>
        <p:spPr>
          <a:xfrm>
            <a:off x="1176324" y="4448175"/>
            <a:ext cx="6846899" cy="1920899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ct val="25000"/>
              <a:buFont typeface="Verdana"/>
              <a:buNone/>
            </a:pPr>
            <a:r>
              <a:rPr lang="en-US" sz="3000" b="1" i="0" u="none" strike="noStrike" cap="none" dirty="0" smtClean="0">
                <a:solidFill>
                  <a:srgbClr val="1F4E79"/>
                </a:solidFill>
                <a:latin typeface="Verdana"/>
                <a:ea typeface="Verdana"/>
                <a:cs typeface="Verdana"/>
                <a:sym typeface="Verdana"/>
              </a:rPr>
              <a:t>(Autodesassediologia)</a:t>
            </a:r>
            <a:endParaRPr lang="en-US" sz="3000" b="1" i="0" u="none" strike="noStrike" cap="none" dirty="0">
              <a:solidFill>
                <a:srgbClr val="1F4E7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Font typeface="Verdana"/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ct val="25000"/>
              <a:buFont typeface="Verdana"/>
              <a:buNone/>
            </a:pPr>
            <a:r>
              <a:rPr lang="en-US" sz="3000" b="1" i="0" u="none" strike="noStrike" cap="none" dirty="0" smtClean="0">
                <a:solidFill>
                  <a:srgbClr val="1F4E79"/>
                </a:solidFill>
                <a:latin typeface="Verdana"/>
                <a:ea typeface="Verdana"/>
                <a:cs typeface="Verdana"/>
                <a:sym typeface="Verdana"/>
              </a:rPr>
              <a:t>Maximiliano Haymann</a:t>
            </a:r>
            <a:endParaRPr lang="en-US" sz="3000" b="1" i="0" u="none" strike="noStrike" cap="none" dirty="0">
              <a:solidFill>
                <a:srgbClr val="1F4E7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400" b="1" i="0" u="none" strike="noStrike" cap="none" dirty="0">
              <a:solidFill>
                <a:srgbClr val="FF931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5000"/>
              <a:buFont typeface="Arial"/>
              <a:buNone/>
            </a:pPr>
            <a:r>
              <a:rPr lang="en-US" sz="2400" b="1" i="0" u="none" strike="noStrike" cap="none" dirty="0" smtClean="0">
                <a:solidFill>
                  <a:srgbClr val="FF931F"/>
                </a:solidFill>
                <a:latin typeface="Verdana"/>
                <a:ea typeface="Verdana"/>
                <a:cs typeface="Verdana"/>
                <a:sym typeface="Verdana"/>
              </a:rPr>
              <a:t>30.04.17</a:t>
            </a:r>
            <a:endParaRPr lang="en-US" sz="2400" b="1" i="0" u="none" strike="noStrike" cap="none" dirty="0">
              <a:solidFill>
                <a:srgbClr val="FF931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Font typeface="Verdana"/>
              <a:buNone/>
            </a:pPr>
            <a:endParaRPr sz="3000" b="1" i="0" u="none" strike="noStrike" cap="none" dirty="0">
              <a:solidFill>
                <a:srgbClr val="1F4E7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Font typeface="Verdana"/>
              <a:buNone/>
            </a:pPr>
            <a:endParaRPr sz="3000" b="1" i="0" u="none" strike="noStrike" cap="none" dirty="0">
              <a:solidFill>
                <a:srgbClr val="1F4E7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9" name="Shape 89"/>
          <p:cNvSpPr txBox="1"/>
          <p:nvPr/>
        </p:nvSpPr>
        <p:spPr>
          <a:xfrm>
            <a:off x="772512" y="3684600"/>
            <a:ext cx="7761300" cy="763500"/>
          </a:xfrm>
          <a:prstGeom prst="rect">
            <a:avLst/>
          </a:prstGeom>
          <a:noFill/>
          <a:ln>
            <a:noFill/>
          </a:ln>
        </p:spPr>
        <p:txBody>
          <a:bodyPr lIns="90000" tIns="46800" rIns="90000" bIns="468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4E79"/>
              </a:buClr>
              <a:buSzPct val="25000"/>
              <a:buFont typeface="Verdana"/>
              <a:buNone/>
            </a:pPr>
            <a:r>
              <a:rPr lang="en-US" sz="4400" b="1" dirty="0" smtClean="0">
                <a:solidFill>
                  <a:srgbClr val="1F4E79"/>
                </a:solidFill>
                <a:latin typeface="Verdana"/>
                <a:ea typeface="Verdana"/>
                <a:cs typeface="Verdana"/>
                <a:sym typeface="Verdana"/>
              </a:rPr>
              <a:t>43 - </a:t>
            </a:r>
            <a:r>
              <a:rPr lang="en-US" sz="4400" b="1" i="0" u="none" strike="noStrike" cap="none" dirty="0" smtClean="0">
                <a:solidFill>
                  <a:srgbClr val="1F4E79"/>
                </a:solidFill>
                <a:latin typeface="Verdana"/>
                <a:ea typeface="Verdana"/>
                <a:cs typeface="Verdana"/>
                <a:sym typeface="Verdana"/>
              </a:rPr>
              <a:t>Irritaciograma</a:t>
            </a:r>
            <a:endParaRPr lang="en-US" sz="4400" b="1" i="0" u="none" strike="noStrike" cap="none" dirty="0">
              <a:solidFill>
                <a:srgbClr val="1F4E7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/>
          <p:nvPr/>
        </p:nvSpPr>
        <p:spPr>
          <a:xfrm>
            <a:off x="674687" y="1169987"/>
            <a:ext cx="7569200" cy="470852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3000" b="1" i="0" u="none" strike="noStrike" cap="none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SUMÁRIO</a:t>
            </a:r>
          </a:p>
          <a:p>
            <a:pPr lvl="0">
              <a:buSzPct val="25000"/>
            </a:pPr>
            <a:r>
              <a:rPr lang="en-US" sz="3000" b="0" i="0" u="none" strike="noStrike" cap="none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3000" b="0" i="0" u="none" strike="noStrike" cap="none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I – O que é a </a:t>
            </a:r>
            <a:r>
              <a:rPr lang="en-US" sz="30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Irritabilidade</a:t>
            </a:r>
            <a:endParaRPr lang="en-US" sz="3000" b="1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ct val="25000"/>
            </a:pPr>
            <a:r>
              <a:rPr lang="en-US" sz="1200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200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II </a:t>
            </a:r>
            <a:r>
              <a:rPr lang="en-US" sz="3000" b="1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lang="en-US" sz="30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Limiar de </a:t>
            </a:r>
            <a:r>
              <a:rPr lang="en-US" sz="30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Anti-irritabilidade</a:t>
            </a:r>
            <a:endParaRPr lang="en-US" sz="3000" b="1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ct val="25000"/>
            </a:pPr>
            <a:r>
              <a:rPr lang="en-US" sz="1200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200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i="0" u="none" strike="noStrike" cap="none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III – </a:t>
            </a:r>
            <a:r>
              <a:rPr lang="en-US" sz="3000" b="1" i="0" u="none" strike="noStrike" cap="none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Paradiagnosticologia </a:t>
            </a:r>
            <a:r>
              <a:rPr lang="en-US" sz="30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da Irritação</a:t>
            </a:r>
            <a:endParaRPr lang="en-US" sz="3000" b="1" i="0" u="none" strike="noStrike" cap="none" dirty="0" smtClean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1200" b="0" i="0" u="none" strike="noStrike" cap="none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200" b="0" i="0" u="none" strike="noStrike" cap="none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i="0" u="none" strike="noStrike" cap="none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IV </a:t>
            </a:r>
            <a:r>
              <a:rPr lang="en-US" sz="3000" b="1" i="0" u="none" strike="noStrike" cap="none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lang="en-US" sz="30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Apresentação do Irritaciograma</a:t>
            </a:r>
            <a:endParaRPr lang="en-US" sz="3000" b="1" i="0" u="none" strike="noStrike" cap="none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1200" b="0" i="0" u="none" strike="noStrike" cap="none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200" b="0" i="0" u="none" strike="noStrike" cap="none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000" b="1" i="0" u="none" strike="noStrike" cap="none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V </a:t>
            </a:r>
            <a:r>
              <a:rPr lang="en-US" sz="3000" b="1" i="0" u="none" strike="noStrike" cap="none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lang="en-US" sz="3000" b="1" i="0" u="none" strike="noStrike" cap="none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Aplicação do Irritaciograma</a:t>
            </a:r>
            <a:endParaRPr lang="en-US" sz="3000" b="1" i="0" u="none" strike="noStrike" cap="none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3000" b="1" i="0" u="none" strike="noStrike" cap="none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VI  </a:t>
            </a:r>
            <a:r>
              <a:rPr lang="en-US" sz="3000" b="1" i="0" u="none" strike="noStrike" cap="none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– </a:t>
            </a:r>
            <a:r>
              <a:rPr lang="en-US" sz="3000" b="1" i="0" u="none" strike="noStrike" cap="none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Debate </a:t>
            </a:r>
            <a:r>
              <a:rPr lang="en-US" sz="3000" b="1" i="0" u="none" strike="noStrike" cap="none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com o </a:t>
            </a:r>
            <a:r>
              <a:rPr lang="pt-BR" sz="3000" b="1" i="0" u="none" strike="noStrike" cap="none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público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i="0" u="none" strike="noStrike" cap="none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674687" y="574675"/>
            <a:ext cx="8230774" cy="6362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SzPct val="25000"/>
            </a:pPr>
            <a:endParaRPr lang="en-US" sz="1800" b="1" dirty="0" smtClean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SzPct val="25000"/>
            </a:pPr>
            <a:r>
              <a:rPr lang="en-US" sz="30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IRRITAÇÃO</a:t>
            </a:r>
            <a:endParaRPr lang="en-US" sz="3000" b="1" dirty="0" smtClean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SzPct val="25000"/>
            </a:pPr>
            <a:r>
              <a:rPr lang="pt-BR" sz="20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É </a:t>
            </a:r>
            <a:r>
              <a:rPr lang="pt-BR" sz="20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o ato ou efeito de irritar-se ou o estado de </a:t>
            </a:r>
            <a:r>
              <a:rPr lang="pt-BR" sz="20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/>
            </a:r>
            <a:br>
              <a:rPr lang="pt-BR" sz="20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pt-BR" sz="20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quem </a:t>
            </a:r>
            <a:r>
              <a:rPr lang="pt-BR" sz="20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se acha irritado.</a:t>
            </a:r>
          </a:p>
          <a:p>
            <a:pPr>
              <a:buSzPct val="25000"/>
            </a:pPr>
            <a:endParaRPr lang="en-US" sz="100" b="1" dirty="0" smtClean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SzPct val="25000"/>
            </a:pPr>
            <a:endParaRPr lang="en-US" sz="1800" b="1" dirty="0" smtClean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SzPct val="25000"/>
            </a:pPr>
            <a:r>
              <a:rPr lang="en-US" sz="30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IRRITABILIDADE</a:t>
            </a:r>
            <a:endParaRPr lang="en-US" sz="3000" b="1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SzPct val="25000"/>
            </a:pPr>
            <a:r>
              <a:rPr lang="pt-BR" sz="20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Qualidade </a:t>
            </a:r>
            <a:r>
              <a:rPr lang="pt-BR" sz="20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de humor irritável</a:t>
            </a:r>
            <a:r>
              <a:rPr lang="pt-BR" sz="20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pPr lvl="0">
              <a:buSzPct val="25000"/>
            </a:pPr>
            <a:r>
              <a:rPr lang="pt-BR" sz="20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Predisposição a reagir </a:t>
            </a:r>
            <a:r>
              <a:rPr lang="pt-BR" sz="20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 estí­mu­los com </a:t>
            </a:r>
            <a:r>
              <a:rPr lang="pt-BR" sz="20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 resposta </a:t>
            </a:r>
            <a:r>
              <a:rPr lang="pt-BR" sz="20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emocional de irritação.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sym typeface="Calibri"/>
            </a:endParaRPr>
          </a:p>
          <a:p>
            <a:pPr lvl="0">
              <a:buSzPct val="25000"/>
            </a:pPr>
            <a:endParaRPr lang="pt-BR" sz="1800" dirty="0" smtClean="0">
              <a:solidFill>
                <a:schemeClr val="tx2">
                  <a:lumMod val="75000"/>
                </a:schemeClr>
              </a:solidFill>
              <a:latin typeface="Gill Sans MT" pitchFamily="34" charset="0"/>
            </a:endParaRPr>
          </a:p>
          <a:p>
            <a:pPr>
              <a:buSzPct val="25000"/>
            </a:pPr>
            <a:r>
              <a:rPr lang="en-US" sz="30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lang="pt-BR" sz="30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</a:rPr>
              <a:t>HUMOR IRRITADO </a:t>
            </a:r>
            <a:r>
              <a:rPr lang="pt-BR" sz="20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é </a:t>
            </a:r>
            <a:r>
              <a:rPr lang="pt-BR" sz="20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altamente saturado com a emoção de </a:t>
            </a:r>
            <a:r>
              <a:rPr lang="pt-BR" sz="20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raiva.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sym typeface="Calibri"/>
            </a:endParaRPr>
          </a:p>
          <a:p>
            <a:pPr lvl="0">
              <a:buSzPct val="25000"/>
            </a:pPr>
            <a:endParaRPr lang="pt-BR" sz="1800" dirty="0" smtClean="0">
              <a:solidFill>
                <a:schemeClr val="tx2">
                  <a:lumMod val="75000"/>
                </a:schemeClr>
              </a:solidFill>
              <a:latin typeface="Gill Sans MT" pitchFamily="34" charset="0"/>
            </a:endParaRPr>
          </a:p>
          <a:p>
            <a:pPr>
              <a:buSzPct val="25000"/>
            </a:pPr>
            <a:r>
              <a:rPr lang="en-US" sz="30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LIMIAR DE ANTI-IRRITABILIDADE</a:t>
            </a:r>
            <a:endParaRPr lang="en-US" sz="3000" b="1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SzPct val="25000"/>
            </a:pPr>
            <a:r>
              <a:rPr lang="pt-BR" sz="20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Limite de sustentabilidade do equilíbrio pessoal  </a:t>
            </a:r>
            <a:r>
              <a:rPr lang="pt-BR" sz="20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sem irritação.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sym typeface="Calibri"/>
            </a:endParaRPr>
          </a:p>
          <a:p>
            <a:pPr lvl="0">
              <a:buSzPct val="25000"/>
            </a:pPr>
            <a:endParaRPr lang="pt-BR" sz="3200" dirty="0" smtClean="0">
              <a:solidFill>
                <a:schemeClr val="tx2">
                  <a:lumMod val="75000"/>
                </a:schemeClr>
              </a:solidFill>
              <a:latin typeface="Gill Sans MT" pitchFamily="34" charset="0"/>
            </a:endParaRPr>
          </a:p>
          <a:p>
            <a:pPr lvl="0">
              <a:buSzPct val="25000"/>
            </a:pPr>
            <a:r>
              <a:rPr lang="en-US" sz="30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3000" b="0" i="0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/>
        </p:nvSpPr>
        <p:spPr>
          <a:xfrm>
            <a:off x="577930" y="1332675"/>
            <a:ext cx="4465005" cy="8463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449580" algn="ctr">
              <a:spcBef>
                <a:spcPts val="300"/>
              </a:spcBef>
              <a:spcAft>
                <a:spcPts val="300"/>
              </a:spcAft>
            </a:pPr>
            <a:r>
              <a:rPr lang="pt-BR" sz="2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Limiar de Anti-irritabilidade</a:t>
            </a:r>
            <a:endParaRPr lang="pt-BR" sz="2400" b="1" dirty="0">
              <a:solidFill>
                <a:schemeClr val="bg1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indent="449580" algn="ctr">
              <a:spcBef>
                <a:spcPts val="300"/>
              </a:spcBef>
              <a:spcAft>
                <a:spcPts val="300"/>
              </a:spcAft>
            </a:pPr>
            <a:r>
              <a:rPr lang="pt-BR" sz="1800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(Resistência aos fatores irritantes)</a:t>
            </a:r>
            <a:endParaRPr lang="pt-BR" sz="18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5791999" y="2676750"/>
            <a:ext cx="3660775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580">
              <a:spcBef>
                <a:spcPts val="300"/>
              </a:spcBef>
              <a:spcAft>
                <a:spcPts val="300"/>
              </a:spcAft>
            </a:pPr>
            <a:r>
              <a:rPr lang="pt-BR" sz="1800" b="1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Escala Horizontal</a:t>
            </a:r>
          </a:p>
          <a:p>
            <a:pPr indent="449580">
              <a:spcBef>
                <a:spcPts val="300"/>
              </a:spcBef>
              <a:spcAft>
                <a:spcPts val="300"/>
              </a:spcAft>
            </a:pPr>
            <a:r>
              <a:rPr lang="pt-BR" sz="18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pt-BR" sz="1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- Hora (ao longo do dia)</a:t>
            </a:r>
            <a:endParaRPr lang="pt-BR" sz="18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62" y="2616198"/>
            <a:ext cx="5687513" cy="3385425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5791999" y="3708226"/>
            <a:ext cx="3536224" cy="10002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9580">
              <a:spcBef>
                <a:spcPts val="300"/>
              </a:spcBef>
              <a:spcAft>
                <a:spcPts val="300"/>
              </a:spcAft>
            </a:pPr>
            <a:r>
              <a:rPr lang="pt-BR" sz="1800" b="1" dirty="0" smtClean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Escala Vertical</a:t>
            </a:r>
          </a:p>
          <a:p>
            <a:pPr marL="447675" indent="1588">
              <a:spcBef>
                <a:spcPts val="300"/>
              </a:spcBef>
              <a:spcAft>
                <a:spcPts val="300"/>
              </a:spcAft>
            </a:pPr>
            <a:r>
              <a:rPr lang="pt-BR" sz="18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pt-BR" sz="1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- Intensidade percebida do evento aversivo</a:t>
            </a:r>
            <a:endParaRPr lang="pt-BR" sz="18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74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47" y="1015873"/>
            <a:ext cx="3981772" cy="2370103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446" y="3592083"/>
            <a:ext cx="3981772" cy="2370103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4522" y="2401459"/>
            <a:ext cx="3905152" cy="2324495"/>
          </a:xfrm>
          <a:prstGeom prst="rect">
            <a:avLst/>
          </a:prstGeom>
        </p:spPr>
      </p:pic>
      <p:sp>
        <p:nvSpPr>
          <p:cNvPr id="10" name="Retângulo 9"/>
          <p:cNvSpPr/>
          <p:nvPr/>
        </p:nvSpPr>
        <p:spPr>
          <a:xfrm>
            <a:off x="4924522" y="4766430"/>
            <a:ext cx="4572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A – </a:t>
            </a:r>
            <a:r>
              <a:rPr lang="pt-BR" sz="1600" b="1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Pequena heterocrítica</a:t>
            </a:r>
            <a:endParaRPr lang="pt-BR" sz="16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r>
              <a:rPr lang="pt-BR" sz="1600" b="1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B </a:t>
            </a:r>
            <a:r>
              <a:rPr lang="pt-BR" sz="16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– </a:t>
            </a:r>
            <a:r>
              <a:rPr lang="pt-BR" sz="1600" b="1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Ruídos, buzinas, falatório</a:t>
            </a:r>
            <a:endParaRPr lang="pt-BR" sz="16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r>
              <a:rPr lang="pt-BR" sz="1600" b="1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C – Percepção de injustiça</a:t>
            </a:r>
            <a:endParaRPr lang="pt-BR" sz="16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r>
              <a:rPr lang="pt-BR" sz="1600" b="1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D </a:t>
            </a:r>
            <a:r>
              <a:rPr lang="pt-BR" sz="16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– Energias de consciex assediadora</a:t>
            </a:r>
          </a:p>
          <a:p>
            <a:r>
              <a:rPr lang="pt-BR" sz="1600" b="1" dirty="0" smtClean="0">
                <a:solidFill>
                  <a:schemeClr val="bg1"/>
                </a:solidFill>
                <a:latin typeface="Times New Roman" panose="02020603050405020304" pitchFamily="18" charset="0"/>
              </a:rPr>
              <a:t>E </a:t>
            </a:r>
            <a:r>
              <a:rPr lang="pt-BR" sz="16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– Percepção de estar sendo desrespeitado </a:t>
            </a:r>
          </a:p>
        </p:txBody>
      </p:sp>
    </p:spTree>
    <p:extLst>
      <p:ext uri="{BB962C8B-B14F-4D97-AF65-F5344CB8AC3E}">
        <p14:creationId xmlns:p14="http://schemas.microsoft.com/office/powerpoint/2010/main" val="489801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09" y="2861313"/>
            <a:ext cx="5160597" cy="3071784"/>
          </a:xfrm>
          <a:prstGeom prst="rect">
            <a:avLst/>
          </a:prstGeom>
        </p:spPr>
      </p:pic>
      <p:sp>
        <p:nvSpPr>
          <p:cNvPr id="101" name="Shape 101"/>
          <p:cNvSpPr/>
          <p:nvPr/>
        </p:nvSpPr>
        <p:spPr>
          <a:xfrm>
            <a:off x="82800" y="495300"/>
            <a:ext cx="7569300" cy="6362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lang="en-US" sz="1800" b="1" i="0" u="none" strike="noStrike" cap="none" dirty="0" smtClean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ct val="25000"/>
            </a:pPr>
            <a:r>
              <a:rPr lang="en-US" sz="3200" b="1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Paradiagnosticologia</a:t>
            </a:r>
            <a:endParaRPr lang="pt-BR" sz="3200" dirty="0">
              <a:solidFill>
                <a:schemeClr val="tx2">
                  <a:lumMod val="75000"/>
                </a:schemeClr>
              </a:solidFill>
              <a:latin typeface="Gill Sans MT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87004" y="2208126"/>
            <a:ext cx="5486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Como diminui o </a:t>
            </a:r>
            <a:r>
              <a:rPr lang="pt-BR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Limiar de Anti-irritabilidade</a:t>
            </a:r>
            <a:endParaRPr lang="pt-BR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5573404" y="2809142"/>
            <a:ext cx="3419526" cy="31761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4625" indent="-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Utilização de </a:t>
            </a:r>
            <a:r>
              <a:rPr lang="pt-BR" sz="1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fármacos; drogas</a:t>
            </a:r>
            <a:endParaRPr lang="pt-BR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4625" indent="-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Condições orgânicas transitórias </a:t>
            </a:r>
          </a:p>
          <a:p>
            <a:pPr marL="174625" indent="-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Doenças mentais</a:t>
            </a:r>
          </a:p>
          <a:p>
            <a:pPr marL="174625" indent="-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pt-B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Conflitos íntimos</a:t>
            </a:r>
          </a:p>
          <a:p>
            <a:pPr marL="174625" indent="-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pt-BR" sz="1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Burn out</a:t>
            </a:r>
          </a:p>
          <a:p>
            <a:pPr marL="174625" indent="-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pt-BR" sz="1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Intoxicação energética</a:t>
            </a:r>
          </a:p>
          <a:p>
            <a:pPr marL="174625" indent="-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pt-BR" sz="1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Holopensene perversor</a:t>
            </a:r>
          </a:p>
          <a:p>
            <a:pPr marL="174625" indent="-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pt-BR" sz="1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Assedialidade</a:t>
            </a:r>
            <a:endParaRPr lang="pt-BR" sz="18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4625" indent="-174625">
              <a:lnSpc>
                <a:spcPts val="2700"/>
              </a:lnSpc>
              <a:buFont typeface="Arial" panose="020B0604020202020204" pitchFamily="34" charset="0"/>
              <a:buChar char="•"/>
            </a:pPr>
            <a:r>
              <a:rPr lang="pt-BR" sz="1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Mau </a:t>
            </a:r>
            <a:r>
              <a:rPr lang="pt-BR" sz="1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Humor</a:t>
            </a:r>
          </a:p>
        </p:txBody>
      </p:sp>
      <p:sp>
        <p:nvSpPr>
          <p:cNvPr id="4" name="Seta para a direita 3"/>
          <p:cNvSpPr/>
          <p:nvPr/>
        </p:nvSpPr>
        <p:spPr>
          <a:xfrm rot="-4440000">
            <a:off x="2562703" y="4897326"/>
            <a:ext cx="357809" cy="141221"/>
          </a:xfrm>
          <a:prstGeom prst="rightArrow">
            <a:avLst/>
          </a:prstGeom>
          <a:ln>
            <a:solidFill>
              <a:schemeClr val="accent1"/>
            </a:solidFill>
          </a:ln>
          <a:scene3d>
            <a:camera prst="orthographicFront">
              <a:rot lat="0" lon="0" rev="13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Seta para a direita 11"/>
          <p:cNvSpPr/>
          <p:nvPr/>
        </p:nvSpPr>
        <p:spPr>
          <a:xfrm rot="-4440000">
            <a:off x="4282057" y="4897326"/>
            <a:ext cx="357809" cy="141221"/>
          </a:xfrm>
          <a:prstGeom prst="rightArrow">
            <a:avLst/>
          </a:prstGeom>
          <a:ln>
            <a:solidFill>
              <a:schemeClr val="accent1"/>
            </a:solidFill>
          </a:ln>
          <a:scene3d>
            <a:camera prst="orthographicFront">
              <a:rot lat="0" lon="0" rev="1320000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93315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784" y="2900654"/>
            <a:ext cx="5115460" cy="3048950"/>
          </a:xfrm>
          <a:prstGeom prst="rect">
            <a:avLst/>
          </a:prstGeom>
        </p:spPr>
      </p:pic>
      <p:sp>
        <p:nvSpPr>
          <p:cNvPr id="101" name="Shape 101"/>
          <p:cNvSpPr/>
          <p:nvPr/>
        </p:nvSpPr>
        <p:spPr>
          <a:xfrm>
            <a:off x="198784" y="694083"/>
            <a:ext cx="7569300" cy="6362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lang="en-US" sz="1800" b="1" i="0" u="none" strike="noStrike" cap="none" dirty="0" smtClean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ct val="25000"/>
            </a:pPr>
            <a:r>
              <a:rPr lang="en-US" sz="32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Paradiagnosticologia</a:t>
            </a:r>
            <a:endParaRPr lang="pt-BR" sz="3200" dirty="0">
              <a:solidFill>
                <a:schemeClr val="tx2">
                  <a:lumMod val="75000"/>
                </a:schemeClr>
              </a:solidFill>
              <a:latin typeface="Gill Sans MT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0" y="2368549"/>
            <a:ext cx="583857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Objetivo: Aumentar o </a:t>
            </a:r>
            <a:r>
              <a:rPr lang="pt-BR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Limiar de Anti-irritabilidade</a:t>
            </a:r>
            <a:endParaRPr lang="pt-BR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5430228" y="3375606"/>
            <a:ext cx="3760966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Desintoxicação energética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Autorreciclagem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Autodesassédio</a:t>
            </a:r>
          </a:p>
          <a:p>
            <a:pPr marL="174625" indent="-1746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Melhora </a:t>
            </a: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Humor (bom humor</a:t>
            </a:r>
            <a:r>
              <a:rPr lang="pt-B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eta para a direita 3"/>
          <p:cNvSpPr/>
          <p:nvPr/>
        </p:nvSpPr>
        <p:spPr>
          <a:xfrm rot="-4440000">
            <a:off x="1520687" y="4162422"/>
            <a:ext cx="357809" cy="141221"/>
          </a:xfrm>
          <a:prstGeom prst="righ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Seta para a direita 7"/>
          <p:cNvSpPr/>
          <p:nvPr/>
        </p:nvSpPr>
        <p:spPr>
          <a:xfrm rot="-4440000">
            <a:off x="3614903" y="4162422"/>
            <a:ext cx="357809" cy="141221"/>
          </a:xfrm>
          <a:prstGeom prst="righ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23440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263720" y="581257"/>
            <a:ext cx="7569300" cy="6362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lang="en-US" sz="2000" b="1" i="0" u="none" strike="noStrike" cap="none" dirty="0" smtClean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ct val="25000"/>
            </a:pPr>
            <a:r>
              <a:rPr lang="en-US" sz="3200" b="1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Paradiagnosticologia</a:t>
            </a:r>
            <a:endParaRPr lang="pt-BR" sz="3200" dirty="0" smtClean="0">
              <a:solidFill>
                <a:schemeClr val="tx2">
                  <a:lumMod val="75000"/>
                </a:schemeClr>
              </a:solidFill>
              <a:latin typeface="Gill Sans MT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223660" y="2113894"/>
            <a:ext cx="54864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Objetivo: Aumento </a:t>
            </a:r>
            <a:r>
              <a:rPr lang="pt-BR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 autodefesa </a:t>
            </a:r>
            <a:r>
              <a:rPr lang="pt-BR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 os fatores </a:t>
            </a:r>
            <a:r>
              <a:rPr lang="pt-BR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predisponentes à autoirritação</a:t>
            </a:r>
            <a:endParaRPr lang="pt-BR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5412366" y="2924729"/>
            <a:ext cx="36679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Eliminação das predisposições para o autoassédio </a:t>
            </a:r>
            <a:r>
              <a:rPr lang="pt-B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(autoassédios latentes)</a:t>
            </a:r>
          </a:p>
        </p:txBody>
      </p:sp>
      <p:sp>
        <p:nvSpPr>
          <p:cNvPr id="9" name="Retângulo 8"/>
          <p:cNvSpPr/>
          <p:nvPr/>
        </p:nvSpPr>
        <p:spPr>
          <a:xfrm>
            <a:off x="5271506" y="4604294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D – Energias de consciex assediadora</a:t>
            </a:r>
          </a:p>
          <a:p>
            <a:endParaRPr lang="pt-BR" sz="800" b="1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r>
              <a:rPr lang="pt-BR" sz="1600" b="1" dirty="0">
                <a:solidFill>
                  <a:schemeClr val="bg1"/>
                </a:solidFill>
                <a:latin typeface="Times New Roman" panose="02020603050405020304" pitchFamily="18" charset="0"/>
              </a:rPr>
              <a:t>E – Percepção de estar sendo desrespeitado </a:t>
            </a: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01" y="2922898"/>
            <a:ext cx="5083645" cy="302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115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82800" y="562496"/>
            <a:ext cx="7569300" cy="6362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lang="en-US" sz="2000" b="1" i="0" u="none" strike="noStrike" cap="none" dirty="0" smtClean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r>
              <a:rPr lang="en-US" sz="3200" b="1" i="0" u="none" strike="noStrike" cap="none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Paradiagnosticologia</a:t>
            </a:r>
            <a:endParaRPr lang="pt-BR" sz="3200" dirty="0" smtClean="0">
              <a:solidFill>
                <a:schemeClr val="tx2">
                  <a:lumMod val="75000"/>
                </a:schemeClr>
              </a:solidFill>
              <a:latin typeface="Gill Sans MT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263720" y="2660936"/>
            <a:ext cx="856595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Identificação das predisposições </a:t>
            </a: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intraconsciencias, genéticas ou paragenéticas, de </a:t>
            </a:r>
            <a:r>
              <a:rPr lang="pt-B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reagir </a:t>
            </a: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à determinados </a:t>
            </a:r>
            <a:r>
              <a:rPr lang="pt-B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estímulos </a:t>
            </a: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 </a:t>
            </a:r>
            <a:r>
              <a:rPr lang="pt-B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irritação.</a:t>
            </a:r>
            <a:r>
              <a:rPr lang="pt-B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263720" y="2069561"/>
            <a:ext cx="26019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Irritaciograma</a:t>
            </a:r>
            <a:endParaRPr lang="pt-BR" sz="3200" b="1" dirty="0">
              <a:solidFill>
                <a:srgbClr val="F2F2F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Retângulo 12"/>
          <p:cNvSpPr/>
          <p:nvPr/>
        </p:nvSpPr>
        <p:spPr>
          <a:xfrm>
            <a:off x="959985" y="3513014"/>
            <a:ext cx="641553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4 níveis de pontuação de </a:t>
            </a:r>
            <a:r>
              <a:rPr lang="en-US" sz="24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frequência de irritação.</a:t>
            </a:r>
            <a:endParaRPr lang="en-US" sz="2400" b="1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1808959" y="4230142"/>
            <a:ext cx="528432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Para </a:t>
            </a: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“normalmente não me irrito com isso”</a:t>
            </a:r>
          </a:p>
          <a:p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Para </a:t>
            </a: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“eu me irrito com isso algumas vezes”</a:t>
            </a:r>
          </a:p>
          <a:p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</a:t>
            </a:r>
            <a:r>
              <a:rPr lang="pt-B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Para </a:t>
            </a: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“eu me irrito com isso frequentemente”</a:t>
            </a:r>
          </a:p>
          <a:p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</a:t>
            </a:r>
            <a:r>
              <a:rPr lang="pt-B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Para </a:t>
            </a: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“eu quase sempre me irrito com isso”</a:t>
            </a:r>
          </a:p>
        </p:txBody>
      </p:sp>
    </p:spTree>
    <p:extLst>
      <p:ext uri="{BB962C8B-B14F-4D97-AF65-F5344CB8AC3E}">
        <p14:creationId xmlns:p14="http://schemas.microsoft.com/office/powerpoint/2010/main" val="3525486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263720" y="581257"/>
            <a:ext cx="7569300" cy="6362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lang="en-US" sz="2000" b="1" i="0" u="none" strike="noStrike" cap="none" dirty="0" smtClean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1408991" y="2687646"/>
            <a:ext cx="8565955" cy="3375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pt-BR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Tipo I: </a:t>
            </a: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devido à percepção de heterocontrole.</a:t>
            </a:r>
          </a:p>
          <a:p>
            <a:pPr>
              <a:lnSpc>
                <a:spcPts val="3200"/>
              </a:lnSpc>
            </a:pPr>
            <a:r>
              <a:rPr lang="pt-BR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Tipo II: </a:t>
            </a: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devido à percepção de prejuízo ou perda.</a:t>
            </a:r>
          </a:p>
          <a:p>
            <a:pPr>
              <a:lnSpc>
                <a:spcPts val="3200"/>
              </a:lnSpc>
            </a:pPr>
            <a:r>
              <a:rPr lang="pt-BR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Tipo III: </a:t>
            </a: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devido ao heteroassédio.</a:t>
            </a:r>
          </a:p>
          <a:p>
            <a:pPr>
              <a:lnSpc>
                <a:spcPts val="3200"/>
              </a:lnSpc>
            </a:pPr>
            <a:r>
              <a:rPr lang="pt-BR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Tipo IV: </a:t>
            </a: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devido às defasagens somáticas.</a:t>
            </a:r>
          </a:p>
          <a:p>
            <a:pPr>
              <a:lnSpc>
                <a:spcPts val="3200"/>
              </a:lnSpc>
            </a:pPr>
            <a:r>
              <a:rPr lang="pt-BR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Tipo V: </a:t>
            </a:r>
            <a:r>
              <a:rPr lang="pt-B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devido à percepção de rebaixamento da autoimagem.</a:t>
            </a:r>
          </a:p>
          <a:p>
            <a:pPr>
              <a:lnSpc>
                <a:spcPts val="3200"/>
              </a:lnSpc>
            </a:pPr>
            <a:r>
              <a:rPr lang="pt-BR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Tipo VI: </a:t>
            </a:r>
            <a:r>
              <a:rPr lang="pt-B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devido à percepção de ameaça, desafio ou ataque.</a:t>
            </a:r>
          </a:p>
          <a:p>
            <a:pPr>
              <a:lnSpc>
                <a:spcPts val="3200"/>
              </a:lnSpc>
            </a:pPr>
            <a:r>
              <a:rPr lang="pt-BR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Tipo VII: </a:t>
            </a:r>
            <a:r>
              <a:rPr lang="pt-B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devido à percepção de indignidade ou injustiça.</a:t>
            </a:r>
          </a:p>
          <a:p>
            <a:pPr>
              <a:lnSpc>
                <a:spcPts val="3200"/>
              </a:lnSpc>
            </a:pPr>
            <a:r>
              <a:rPr lang="pt-BR" sz="20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Tipo VIII: </a:t>
            </a:r>
            <a:r>
              <a:rPr lang="pt-B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ante às inabilidades e incompetências alheias.</a:t>
            </a:r>
          </a:p>
        </p:txBody>
      </p:sp>
      <p:sp>
        <p:nvSpPr>
          <p:cNvPr id="2" name="Retângulo 1"/>
          <p:cNvSpPr/>
          <p:nvPr/>
        </p:nvSpPr>
        <p:spPr>
          <a:xfrm>
            <a:off x="385260" y="2181786"/>
            <a:ext cx="39661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8 </a:t>
            </a:r>
            <a:r>
              <a:rPr lang="en-US" sz="24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tipos de causas de irritação:</a:t>
            </a:r>
            <a:endParaRPr lang="pt-BR" sz="2400" b="1" dirty="0">
              <a:solidFill>
                <a:srgbClr val="F2F2F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387869" y="1138002"/>
            <a:ext cx="55335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40 questões no total, </a:t>
            </a:r>
            <a:r>
              <a:rPr lang="pt-BR" sz="24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divididas</a:t>
            </a:r>
            <a:r>
              <a:rPr lang="en-US" sz="24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em 5 para  </a:t>
            </a:r>
            <a:r>
              <a:rPr lang="en-US" sz="2400" b="1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cada tipo de </a:t>
            </a:r>
            <a:r>
              <a:rPr lang="en-US" sz="2400" b="1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irritação.</a:t>
            </a:r>
            <a:endParaRPr lang="en-US" sz="2400" b="1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94643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428107" y="1180851"/>
            <a:ext cx="7569300" cy="6362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lang="en-US" sz="3000" b="1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ct val="25000"/>
            </a:pPr>
            <a:endParaRPr lang="pt-BR" sz="3200" dirty="0" smtClean="0">
              <a:solidFill>
                <a:schemeClr val="tx2">
                  <a:lumMod val="75000"/>
                </a:schemeClr>
              </a:solidFill>
              <a:latin typeface="Gill Sans MT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365949" y="2816105"/>
            <a:ext cx="877805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Tipo II: </a:t>
            </a:r>
            <a:r>
              <a:rPr lang="pt-B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irritação</a:t>
            </a:r>
            <a:r>
              <a:rPr lang="pt-BR" sz="24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devido </a:t>
            </a: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à percepção de </a:t>
            </a:r>
            <a:r>
              <a:rPr lang="pt-B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prejuízo ou </a:t>
            </a:r>
            <a:r>
              <a:rPr lang="pt-B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perda.</a:t>
            </a:r>
          </a:p>
        </p:txBody>
      </p:sp>
      <p:graphicFrame>
        <p:nvGraphicFramePr>
          <p:cNvPr id="7" name="Tabela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542534"/>
              </p:ext>
            </p:extLst>
          </p:nvPr>
        </p:nvGraphicFramePr>
        <p:xfrm>
          <a:off x="747103" y="5302060"/>
          <a:ext cx="7107288" cy="620014"/>
        </p:xfrm>
        <a:graphic>
          <a:graphicData uri="http://schemas.openxmlformats.org/drawingml/2006/table">
            <a:tbl>
              <a:tblPr firstRow="1" firstCol="1" bandRow="1"/>
              <a:tblGrid>
                <a:gridCol w="1015044"/>
                <a:gridCol w="1015044"/>
                <a:gridCol w="1015044"/>
                <a:gridCol w="1015044"/>
                <a:gridCol w="1015704"/>
                <a:gridCol w="1015704"/>
                <a:gridCol w="1015704"/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Item</a:t>
                      </a:r>
                      <a:endParaRPr lang="pt-BR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01</a:t>
                      </a:r>
                      <a:endParaRPr lang="pt-BR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06</a:t>
                      </a:r>
                      <a:endParaRPr lang="pt-BR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</a:t>
                      </a:r>
                      <a:endParaRPr lang="pt-BR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24</a:t>
                      </a:r>
                      <a:endParaRPr lang="pt-BR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35</a:t>
                      </a:r>
                      <a:endParaRPr lang="pt-BR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b="1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∑</a:t>
                      </a:r>
                      <a:endParaRPr lang="pt-BR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Nota</a:t>
                      </a:r>
                      <a:endParaRPr lang="pt-BR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  <a:endParaRPr lang="pt-BR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  <a:endParaRPr lang="pt-BR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  <a:endParaRPr lang="pt-BR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</a:t>
                      </a:r>
                      <a:endParaRPr lang="pt-BR" sz="20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458845"/>
              </p:ext>
            </p:extLst>
          </p:nvPr>
        </p:nvGraphicFramePr>
        <p:xfrm>
          <a:off x="558988" y="3412732"/>
          <a:ext cx="7976466" cy="1553655"/>
        </p:xfrm>
        <a:graphic>
          <a:graphicData uri="http://schemas.openxmlformats.org/drawingml/2006/table">
            <a:tbl>
              <a:tblPr firstRow="1" firstCol="1" bandRow="1"/>
              <a:tblGrid>
                <a:gridCol w="568096"/>
                <a:gridCol w="7408370"/>
              </a:tblGrid>
              <a:tr h="252095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01.</a:t>
                      </a:r>
                      <a:endParaRPr lang="pt-BR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Quando alguém está desperdiçando o meu dinheiro</a:t>
                      </a:r>
                      <a:endParaRPr lang="pt-BR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2095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06.</a:t>
                      </a:r>
                      <a:endParaRPr lang="pt-BR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Quando destroem ou quebram algum bem pessoal</a:t>
                      </a:r>
                      <a:endParaRPr lang="pt-BR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2095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17.</a:t>
                      </a:r>
                      <a:endParaRPr lang="pt-BR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Quando me fazem perder tempo</a:t>
                      </a:r>
                      <a:endParaRPr lang="pt-BR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2095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 b="0" i="0" u="none" strike="noStrike" cap="none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"/>
                        </a:rPr>
                        <a:t> 24</a:t>
                      </a:r>
                      <a:r>
                        <a:rPr lang="pt-BR" sz="20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"/>
                        </a:rPr>
                        <a:t>.</a:t>
                      </a:r>
                    </a:p>
                  </a:txBody>
                  <a:tcPr marL="68580" marR="68580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pt-BR" sz="2000" b="0" i="0" u="none" strike="noStrike" cap="non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  <a:sym typeface="Arial"/>
                        </a:rPr>
                        <a:t>Quando me fazem cobranças financeiras indevidas</a:t>
                      </a:r>
                    </a:p>
                  </a:txBody>
                  <a:tcPr marL="68580" marR="68580" marT="9525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52095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 smtClean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35</a:t>
                      </a:r>
                      <a:r>
                        <a:rPr lang="pt-BR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</a:t>
                      </a:r>
                      <a:endParaRPr lang="pt-BR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Quando querem levar algum tipo de vantagem sobre mim</a:t>
                      </a:r>
                      <a:endParaRPr lang="pt-BR" sz="18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" name="Retângulo 9"/>
          <p:cNvSpPr/>
          <p:nvPr/>
        </p:nvSpPr>
        <p:spPr>
          <a:xfrm>
            <a:off x="487055" y="1180851"/>
            <a:ext cx="528432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Para </a:t>
            </a: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“normalmente não me irrito com isso”</a:t>
            </a:r>
          </a:p>
          <a:p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Para </a:t>
            </a: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“eu me irrito com isso algumas vezes”</a:t>
            </a:r>
          </a:p>
          <a:p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</a:t>
            </a:r>
            <a:r>
              <a:rPr lang="pt-B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Para </a:t>
            </a: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“eu me irrito com isso frequentemente”</a:t>
            </a:r>
          </a:p>
          <a:p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</a:t>
            </a:r>
            <a:r>
              <a:rPr lang="pt-B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Para </a:t>
            </a:r>
            <a:r>
              <a:rPr lang="pt-B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“eu quase sempre me irrito com isso”</a:t>
            </a:r>
          </a:p>
        </p:txBody>
      </p:sp>
    </p:spTree>
    <p:extLst>
      <p:ext uri="{BB962C8B-B14F-4D97-AF65-F5344CB8AC3E}">
        <p14:creationId xmlns:p14="http://schemas.microsoft.com/office/powerpoint/2010/main" val="2816207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/>
        </p:nvSpPr>
        <p:spPr>
          <a:xfrm>
            <a:off x="428107" y="1180851"/>
            <a:ext cx="7569300" cy="6362700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i="0" u="none" strike="noStrike" cap="none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endParaRPr lang="en-US" sz="3000" b="1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SzPct val="25000"/>
            </a:pPr>
            <a:endParaRPr lang="pt-BR" sz="3200" dirty="0" smtClean="0">
              <a:solidFill>
                <a:schemeClr val="tx2">
                  <a:lumMod val="75000"/>
                </a:schemeClr>
              </a:solidFill>
              <a:latin typeface="Gill Sans MT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428107" y="2648176"/>
            <a:ext cx="855137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 smtClean="0">
                <a:solidFill>
                  <a:schemeClr val="bg1"/>
                </a:solidFill>
              </a:rPr>
              <a:t>A homeostase </a:t>
            </a:r>
            <a:r>
              <a:rPr lang="pt-BR" sz="2800" dirty="0">
                <a:solidFill>
                  <a:schemeClr val="bg1"/>
                </a:solidFill>
              </a:rPr>
              <a:t>íntima decorre, não dos fatos, mas das interpretações e reações que oferecemos quanto aos mesmos (Temperamentologia)</a:t>
            </a:r>
          </a:p>
        </p:txBody>
      </p:sp>
      <p:sp>
        <p:nvSpPr>
          <p:cNvPr id="3" name="Retângulo 2"/>
          <p:cNvSpPr/>
          <p:nvPr/>
        </p:nvSpPr>
        <p:spPr>
          <a:xfrm>
            <a:off x="4883492" y="4362201"/>
            <a:ext cx="40959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pt-BR" sz="1800" b="1" dirty="0" smtClean="0">
                <a:solidFill>
                  <a:schemeClr val="bg1"/>
                </a:solidFill>
              </a:rPr>
              <a:t>DAC. </a:t>
            </a:r>
            <a:r>
              <a:rPr lang="pt-BR" sz="1800" b="1" i="1" dirty="0" smtClean="0">
                <a:solidFill>
                  <a:schemeClr val="bg1"/>
                </a:solidFill>
              </a:rPr>
              <a:t>Antirritaciologia, Waldo Vieira</a:t>
            </a:r>
            <a:endParaRPr lang="pt-BR" sz="1800" b="1" dirty="0"/>
          </a:p>
        </p:txBody>
      </p:sp>
    </p:spTree>
    <p:extLst>
      <p:ext uri="{BB962C8B-B14F-4D97-AF65-F5344CB8AC3E}">
        <p14:creationId xmlns:p14="http://schemas.microsoft.com/office/powerpoint/2010/main" val="2637236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1262</TotalTime>
  <Words>491</Words>
  <Application>Microsoft Office PowerPoint</Application>
  <PresentationFormat>Apresentação na tela (4:3)</PresentationFormat>
  <Paragraphs>123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Arial</vt:lpstr>
      <vt:lpstr>Calibri</vt:lpstr>
      <vt:lpstr>Gill Sans MT</vt:lpstr>
      <vt:lpstr>Times New Roman</vt:lpstr>
      <vt:lpstr>Verdana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Maximiliano Haymann</dc:creator>
  <cp:lastModifiedBy>Maximiliano Haymann</cp:lastModifiedBy>
  <cp:revision>64</cp:revision>
  <cp:lastPrinted>2017-04-18T00:06:40Z</cp:lastPrinted>
  <dcterms:modified xsi:type="dcterms:W3CDTF">2017-04-18T01:20:52Z</dcterms:modified>
</cp:coreProperties>
</file>