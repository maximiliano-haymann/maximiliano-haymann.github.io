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6"/>
  </p:notesMasterIdLst>
  <p:handoutMasterIdLst>
    <p:handoutMasterId r:id="rId17"/>
  </p:handoutMasterIdLst>
  <p:sldIdLst>
    <p:sldId id="265" r:id="rId2"/>
    <p:sldId id="267" r:id="rId3"/>
    <p:sldId id="270" r:id="rId4"/>
    <p:sldId id="280" r:id="rId5"/>
    <p:sldId id="277" r:id="rId6"/>
    <p:sldId id="272" r:id="rId7"/>
    <p:sldId id="278" r:id="rId8"/>
    <p:sldId id="281" r:id="rId9"/>
    <p:sldId id="286" r:id="rId10"/>
    <p:sldId id="282" r:id="rId11"/>
    <p:sldId id="283" r:id="rId12"/>
    <p:sldId id="285" r:id="rId13"/>
    <p:sldId id="287" r:id="rId14"/>
    <p:sldId id="288" r:id="rId15"/>
  </p:sldIdLst>
  <p:sldSz cx="6965950" cy="3917950"/>
  <p:notesSz cx="6797675" cy="99250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8" autoAdjust="0"/>
    <p:restoredTop sz="94250" autoAdjust="0"/>
  </p:normalViewPr>
  <p:slideViewPr>
    <p:cSldViewPr snapToGrid="0">
      <p:cViewPr varScale="1">
        <p:scale>
          <a:sx n="145" d="100"/>
          <a:sy n="145" d="100"/>
        </p:scale>
        <p:origin x="55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50A49-4D0A-40EB-BC74-D7A93E5F562B}" type="datetimeFigureOut">
              <a:rPr lang="pt-BR" smtClean="0"/>
              <a:t>16/07/2022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0A17C-36CF-4091-88B2-5049D5CED7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151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0442" y="0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39" cy="44662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1" y="9427075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0442" y="9427075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779607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1pPr>
    <a:lvl2pPr marL="261140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2pPr>
    <a:lvl3pPr marL="522281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3pPr>
    <a:lvl4pPr marL="783421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4pPr>
    <a:lvl5pPr marL="1044561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5pPr>
    <a:lvl6pPr marL="1305702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6pPr>
    <a:lvl7pPr marL="1566842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7pPr>
    <a:lvl8pPr marL="1827983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8pPr>
    <a:lvl9pPr marL="2089125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80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2">
            <a:extLst>
              <a:ext uri="{FF2B5EF4-FFF2-40B4-BE49-F238E27FC236}">
                <a16:creationId xmlns="" xmlns:a16="http://schemas.microsoft.com/office/drawing/2014/main" id="{CE01A25F-E6F7-43F7-8471-47EB954794C6}"/>
              </a:ext>
            </a:extLst>
          </p:cNvPr>
          <p:cNvSpPr/>
          <p:nvPr userDrawn="1"/>
        </p:nvSpPr>
        <p:spPr>
          <a:xfrm>
            <a:off x="5046120" y="0"/>
            <a:ext cx="1919160" cy="107928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 w="12600">
            <a:solidFill>
              <a:schemeClr val="tx1">
                <a:lumMod val="50000"/>
                <a:lumOff val="50000"/>
                <a:alpha val="2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strike="noStrike" spc="-1">
                <a:solidFill>
                  <a:srgbClr val="FFFFFF"/>
                </a:solidFill>
                <a:latin typeface="Arial"/>
                <a:ea typeface="Arial"/>
              </a:rPr>
              <a:t>NÃO USAR ESTE ESPAÇO</a:t>
            </a:r>
            <a:endParaRPr lang="pt-B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9812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1.doc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Document2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Document3.docx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Consciencioterapeuticologia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668621A-35F8-4701-85AE-E92BB9D20BDC}"/>
              </a:ext>
            </a:extLst>
          </p:cNvPr>
          <p:cNvSpPr txBox="1"/>
          <p:nvPr/>
        </p:nvSpPr>
        <p:spPr>
          <a:xfrm>
            <a:off x="196705" y="1455521"/>
            <a:ext cx="65725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chemeClr val="accent1">
                    <a:lumMod val="50000"/>
                  </a:schemeClr>
                </a:solidFill>
              </a:rPr>
              <a:t>Especialidade da Conscienciologia aplicada aos estudos específicos, sistemáticos, teáticos ou pesquisas e vivências </a:t>
            </a:r>
            <a:br>
              <a:rPr lang="pt-BR" sz="18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pt-BR" sz="1800" dirty="0">
                <a:solidFill>
                  <a:schemeClr val="accent1">
                    <a:lumMod val="50000"/>
                  </a:schemeClr>
                </a:solidFill>
              </a:rPr>
              <a:t>do </a:t>
            </a:r>
            <a:r>
              <a:rPr lang="pt-BR" sz="1800" b="1" dirty="0">
                <a:solidFill>
                  <a:srgbClr val="FF0000"/>
                </a:solidFill>
              </a:rPr>
              <a:t>tratamento, alívio e remissão dos distúrbios da consciência</a:t>
            </a:r>
            <a:r>
              <a:rPr lang="pt-BR" sz="1800" dirty="0">
                <a:solidFill>
                  <a:schemeClr val="accent1">
                    <a:lumMod val="50000"/>
                  </a:schemeClr>
                </a:solidFill>
              </a:rPr>
              <a:t>, realizados por meio dos recursos e técnicas derivados da abordagem da consciência inteira, em suas patologias e parapatologias, profilaxias e paraprofilaxias.</a:t>
            </a:r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4397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Especialidades Básicas</a:t>
            </a:r>
          </a:p>
          <a:p>
            <a:endParaRPr lang="pt-BR" sz="2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1344179"/>
            <a:ext cx="5625180" cy="214604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884262" y="3596362"/>
            <a:ext cx="203132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/>
              <a:t>Waldo Vieira, Projeciologia </a:t>
            </a:r>
            <a:r>
              <a:rPr lang="pt-BR" dirty="0"/>
              <a:t>(1999, p. 37)</a:t>
            </a:r>
          </a:p>
        </p:txBody>
      </p:sp>
    </p:spTree>
    <p:extLst>
      <p:ext uri="{BB962C8B-B14F-4D97-AF65-F5344CB8AC3E}">
        <p14:creationId xmlns:p14="http://schemas.microsoft.com/office/powerpoint/2010/main" val="233618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Primeira Fase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48629" y="819235"/>
            <a:ext cx="6084869" cy="1325563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rPr>
              <a:t>Experimentação Paraclínica </a:t>
            </a:r>
            <a:b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rPr>
            </a:b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rPr>
              <a:t>(Clínicas Experimentais, NAIC)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rPr>
              <a:t>Enfoque nas publicações sobre autoconsciencioterapia</a:t>
            </a:r>
          </a:p>
        </p:txBody>
      </p:sp>
      <p:sp>
        <p:nvSpPr>
          <p:cNvPr id="7" name="Retângulo 6"/>
          <p:cNvSpPr/>
          <p:nvPr/>
        </p:nvSpPr>
        <p:spPr>
          <a:xfrm>
            <a:off x="1137548" y="2180174"/>
            <a:ext cx="10348332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600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Técnica da checagem autopensênica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600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Técnica da checagem holossomática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600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Técnica da qualificação da intenção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BR" sz="1600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Técnica do enfrentamento do mal-estar</a:t>
            </a:r>
          </a:p>
        </p:txBody>
      </p:sp>
      <p:sp>
        <p:nvSpPr>
          <p:cNvPr id="9" name="Retângulo 8"/>
          <p:cNvSpPr/>
          <p:nvPr/>
        </p:nvSpPr>
        <p:spPr>
          <a:xfrm>
            <a:off x="1137548" y="1898515"/>
            <a:ext cx="83838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Técnicas Autoconsciencioterápicas Iniciais:</a:t>
            </a:r>
            <a:endParaRPr lang="pt-BR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232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8" y="85452"/>
            <a:ext cx="630908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</a:rPr>
              <a:t>Neociências </a:t>
            </a:r>
            <a:r>
              <a:rPr lang="pt-BR" sz="2400" b="1" dirty="0" smtClean="0">
                <a:solidFill>
                  <a:schemeClr val="accent1"/>
                </a:solidFill>
              </a:rPr>
              <a:t>Autoconsciencioterápicas</a:t>
            </a:r>
            <a:endParaRPr lang="pt-BR" sz="2400" b="1" dirty="0">
              <a:solidFill>
                <a:schemeClr val="accent1"/>
              </a:solidFill>
            </a:endParaRPr>
          </a:p>
          <a:p>
            <a:endParaRPr lang="pt-BR" sz="2200" b="1" dirty="0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30164"/>
              </p:ext>
            </p:extLst>
          </p:nvPr>
        </p:nvGraphicFramePr>
        <p:xfrm>
          <a:off x="369322" y="1422757"/>
          <a:ext cx="7322896" cy="1742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Document" r:id="rId4" imgW="8903928" imgH="2119890" progId="Word.Document.12">
                  <p:embed/>
                </p:oleObj>
              </mc:Choice>
              <mc:Fallback>
                <p:oleObj name="Document" r:id="rId4" imgW="8903928" imgH="21198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9322" y="1422757"/>
                        <a:ext cx="7322896" cy="1742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529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Segunda Fase</a:t>
            </a:r>
          </a:p>
        </p:txBody>
      </p:sp>
      <p:sp>
        <p:nvSpPr>
          <p:cNvPr id="2" name="Retângulo 1"/>
          <p:cNvSpPr/>
          <p:nvPr/>
        </p:nvSpPr>
        <p:spPr>
          <a:xfrm>
            <a:off x="248629" y="939872"/>
            <a:ext cx="77479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- 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Fundação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 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OIC.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 </a:t>
            </a:r>
            <a:r>
              <a:rPr kumimoji="0" lang="pt-BR" sz="1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Campus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OIC e expansão</a:t>
            </a:r>
            <a:r>
              <a:rPr kumimoji="0" lang="pt-BR" sz="1800" b="1" i="0" u="none" strike="noStrike" kern="1200" cap="none" spc="0" normalizeH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nacional.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/>
            </a:r>
            <a:b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 </a:t>
            </a:r>
            <a:r>
              <a:rPr lang="pt-BR" sz="1800" b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Tratados (Ex.: redutores do autodiscernimento</a:t>
            </a: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).</a:t>
            </a:r>
          </a:p>
          <a:p>
            <a:pPr lvl="0">
              <a:lnSpc>
                <a:spcPct val="150000"/>
              </a:lnSpc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 Enciclopédia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 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Conscienciologia; LO; DAC.</a:t>
            </a:r>
          </a:p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 </a:t>
            </a: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Neoe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specialidades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consciencioterápicas.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/>
            </a:r>
            <a:b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- Consolidação 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teática </a:t>
            </a: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da 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Autoconsciencioterapeuticologia.</a:t>
            </a:r>
            <a:endParaRPr kumimoji="0" lang="pt-BR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635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8" y="85452"/>
            <a:ext cx="51564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chemeClr val="accent1"/>
                </a:solidFill>
                <a:latin typeface="+mj-lt"/>
              </a:rPr>
              <a:t>Novas propostas de Waldo Vieira</a:t>
            </a:r>
          </a:p>
          <a:p>
            <a:endParaRPr lang="pt-BR" sz="22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20" y="1184307"/>
            <a:ext cx="5094260" cy="26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3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8" y="85452"/>
            <a:ext cx="51564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chemeClr val="accent1"/>
                </a:solidFill>
                <a:latin typeface="+mj-lt"/>
              </a:rPr>
              <a:t>Novas propostas de Waldo Vieira</a:t>
            </a:r>
          </a:p>
          <a:p>
            <a:endParaRPr lang="pt-BR" sz="22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02" y="1605280"/>
            <a:ext cx="4777317" cy="106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83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Fase Atual</a:t>
            </a:r>
          </a:p>
        </p:txBody>
      </p:sp>
      <p:sp>
        <p:nvSpPr>
          <p:cNvPr id="2" name="Retângulo 1"/>
          <p:cNvSpPr/>
          <p:nvPr/>
        </p:nvSpPr>
        <p:spPr>
          <a:xfrm>
            <a:off x="248629" y="1298285"/>
            <a:ext cx="774795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Integração </a:t>
            </a:r>
            <a:r>
              <a:rPr lang="pt-BR" sz="1800" b="1" kern="1200" dirty="0">
                <a:solidFill>
                  <a:srgbClr val="FF0000"/>
                </a:solidFill>
                <a:latin typeface="+mj-lt"/>
                <a:ea typeface="+mn-ea"/>
                <a:cs typeface="+mn-cs"/>
              </a:rPr>
              <a:t>teática</a:t>
            </a:r>
            <a:r>
              <a:rPr lang="pt-BR" sz="1800" b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 ao </a:t>
            </a:r>
            <a:r>
              <a:rPr lang="pt-BR" sz="1800" b="1" i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Corpus</a:t>
            </a:r>
            <a:r>
              <a:rPr lang="pt-BR" sz="1800" b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 da Conscienciologia atual</a:t>
            </a: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.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Organização </a:t>
            </a:r>
            <a:r>
              <a:rPr lang="pt-BR" sz="1800" b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da experiência paraclínica acumulada</a:t>
            </a: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.</a:t>
            </a:r>
          </a:p>
          <a:p>
            <a:pPr marL="285750" lvl="0" indent="-285750">
              <a:lnSpc>
                <a:spcPct val="150000"/>
              </a:lnSpc>
              <a:buFontTx/>
              <a:buChar char="-"/>
            </a:pP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Redação </a:t>
            </a:r>
            <a:r>
              <a:rPr lang="pt-BR" sz="1800" b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do Dicionário de </a:t>
            </a:r>
            <a:r>
              <a:rPr lang="pt-BR" sz="18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Consciencioterapeuticologia.</a:t>
            </a:r>
          </a:p>
          <a:p>
            <a:pPr lvl="0">
              <a:lnSpc>
                <a:spcPct val="150000"/>
              </a:lnSpc>
            </a:pPr>
            <a:r>
              <a:rPr kumimoji="0" lang="pt-BR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uLnTx/>
                <a:uFillTx/>
                <a:latin typeface="+mj-lt"/>
                <a:ea typeface="+mn-ea"/>
                <a:cs typeface="+mn-cs"/>
              </a:rPr>
              <a:t>	</a:t>
            </a:r>
            <a:r>
              <a:rPr lang="pt-BR" sz="1800" b="1" i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Neoespecialidades</a:t>
            </a:r>
          </a:p>
          <a:p>
            <a:pPr lvl="0">
              <a:lnSpc>
                <a:spcPct val="150000"/>
              </a:lnSpc>
            </a:pPr>
            <a:r>
              <a:rPr kumimoji="0" lang="pt-BR" sz="1800" b="1" i="1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uLnTx/>
                <a:uFillTx/>
                <a:latin typeface="+mj-lt"/>
                <a:ea typeface="+mn-ea"/>
                <a:cs typeface="+mn-cs"/>
              </a:rPr>
              <a:t>	</a:t>
            </a:r>
            <a:r>
              <a:rPr kumimoji="0" lang="pt-BR" sz="1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uLnTx/>
                <a:uFillTx/>
                <a:latin typeface="+mj-lt"/>
                <a:ea typeface="+mn-ea"/>
                <a:cs typeface="+mn-cs"/>
              </a:rPr>
              <a:t>Taxologia</a:t>
            </a:r>
          </a:p>
          <a:p>
            <a:pPr lvl="0">
              <a:lnSpc>
                <a:spcPct val="150000"/>
              </a:lnSpc>
            </a:pPr>
            <a:r>
              <a:rPr lang="pt-BR" sz="1800" b="1" i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	</a:t>
            </a:r>
            <a:endParaRPr kumimoji="0" lang="pt-BR" sz="10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5258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65410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 smtClean="0">
                <a:solidFill>
                  <a:schemeClr val="accent1"/>
                </a:solidFill>
                <a:latin typeface="+mj-lt"/>
              </a:rPr>
              <a:t>Dicionário </a:t>
            </a:r>
            <a:r>
              <a:rPr lang="pt-BR" sz="2400" b="1" dirty="0">
                <a:solidFill>
                  <a:schemeClr val="accent1"/>
                </a:solidFill>
                <a:latin typeface="+mj-lt"/>
              </a:rPr>
              <a:t>de Consciencioterapeuticologia</a:t>
            </a:r>
          </a:p>
        </p:txBody>
      </p:sp>
      <p:sp>
        <p:nvSpPr>
          <p:cNvPr id="2" name="Retângulo 1"/>
          <p:cNvSpPr/>
          <p:nvPr/>
        </p:nvSpPr>
        <p:spPr>
          <a:xfrm>
            <a:off x="248629" y="847538"/>
            <a:ext cx="6619881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pt-BR" sz="1800" b="1" i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Critérios de Inclusão de Especialidade no DC:</a:t>
            </a:r>
          </a:p>
          <a:p>
            <a:pPr lvl="0">
              <a:lnSpc>
                <a:spcPct val="150000"/>
              </a:lnSpc>
            </a:pPr>
            <a:endParaRPr lang="pt-BR" b="1" kern="1200" dirty="0" smtClean="0">
              <a:solidFill>
                <a:srgbClr val="5B9BD5">
                  <a:lumMod val="50000"/>
                </a:srgbClr>
              </a:solidFill>
              <a:latin typeface="+mj-lt"/>
              <a:ea typeface="+mn-ea"/>
              <a:cs typeface="+mn-cs"/>
            </a:endParaRPr>
          </a:p>
          <a:p>
            <a:pPr lvl="0">
              <a:lnSpc>
                <a:spcPct val="150000"/>
              </a:lnSpc>
            </a:pPr>
            <a:r>
              <a:rPr lang="pt-BR" sz="1600" b="1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1. Teática</a:t>
            </a:r>
            <a:r>
              <a:rPr lang="pt-BR" sz="1600" b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. </a:t>
            </a:r>
            <a:r>
              <a:rPr lang="pt-BR" sz="1600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Campo </a:t>
            </a:r>
            <a:r>
              <a:rPr lang="pt-BR" sz="1600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do conhecimento consciencioterápico </a:t>
            </a:r>
            <a:r>
              <a:rPr lang="pt-BR" sz="1600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com </a:t>
            </a:r>
            <a:r>
              <a:rPr lang="pt-BR" sz="1600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evidentes experiência teática </a:t>
            </a:r>
            <a:r>
              <a:rPr lang="pt-BR" sz="1600" kern="1200" dirty="0" smtClean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dos consciencioterapeutas</a:t>
            </a:r>
            <a:r>
              <a:rPr lang="pt-BR" sz="1600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.</a:t>
            </a:r>
            <a:endParaRPr lang="pt-BR" sz="1600" kern="1200" dirty="0" smtClean="0">
              <a:solidFill>
                <a:srgbClr val="5B9BD5">
                  <a:lumMod val="50000"/>
                </a:srgbClr>
              </a:solidFill>
              <a:latin typeface="+mj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pt-BR" sz="1600" b="1" kern="1200" dirty="0" smtClean="0">
                <a:solidFill>
                  <a:srgbClr val="5B9BD5">
                    <a:lumMod val="50000"/>
                  </a:srgbClr>
                </a:solidFill>
              </a:rPr>
              <a:t>2. Precisão. </a:t>
            </a:r>
            <a:r>
              <a:rPr lang="pt-BR" sz="1600" kern="1200" dirty="0" smtClean="0">
                <a:solidFill>
                  <a:srgbClr val="5B9BD5">
                    <a:lumMod val="50000"/>
                  </a:srgbClr>
                </a:solidFill>
              </a:rPr>
              <a:t>Representar com maior precisão grupo de entradas relevante do Dicionário quando comparada a especialidade de ordem inferior.</a:t>
            </a:r>
          </a:p>
          <a:p>
            <a:pPr>
              <a:lnSpc>
                <a:spcPct val="150000"/>
              </a:lnSpc>
            </a:pPr>
            <a:r>
              <a:rPr lang="pt-BR" sz="1600" kern="1200" dirty="0" smtClean="0">
                <a:solidFill>
                  <a:srgbClr val="5B9BD5">
                    <a:lumMod val="50000"/>
                  </a:srgbClr>
                </a:solidFill>
              </a:rPr>
              <a:t>3. </a:t>
            </a:r>
            <a:r>
              <a:rPr lang="pt-BR" sz="1600" b="1" kern="1200" dirty="0" smtClean="0">
                <a:solidFill>
                  <a:srgbClr val="5B9BD5">
                    <a:lumMod val="50000"/>
                  </a:srgbClr>
                </a:solidFill>
              </a:rPr>
              <a:t>Unidade de </a:t>
            </a:r>
            <a:r>
              <a:rPr lang="pt-BR" sz="1600" b="1" kern="1200" dirty="0">
                <a:solidFill>
                  <a:srgbClr val="5B9BD5">
                    <a:lumMod val="50000"/>
                  </a:srgbClr>
                </a:solidFill>
              </a:rPr>
              <a:t>medida. </a:t>
            </a:r>
            <a:r>
              <a:rPr lang="pt-BR" sz="1600" kern="1200" dirty="0">
                <a:solidFill>
                  <a:srgbClr val="5B9BD5">
                    <a:lumMod val="50000"/>
                  </a:srgbClr>
                </a:solidFill>
              </a:rPr>
              <a:t>Ter unidade de medida </a:t>
            </a:r>
            <a:r>
              <a:rPr lang="pt-BR" sz="1600" kern="1200" dirty="0" smtClean="0">
                <a:solidFill>
                  <a:srgbClr val="5B9BD5">
                    <a:lumMod val="50000"/>
                  </a:srgbClr>
                </a:solidFill>
              </a:rPr>
              <a:t>clara e exclusiva.</a:t>
            </a:r>
            <a:endParaRPr lang="pt-BR" sz="1600" kern="1200" dirty="0">
              <a:solidFill>
                <a:srgbClr val="5B9BD5">
                  <a:lumMod val="50000"/>
                </a:srgbClr>
              </a:solidFill>
            </a:endParaRPr>
          </a:p>
          <a:p>
            <a:pPr lvl="0">
              <a:lnSpc>
                <a:spcPct val="150000"/>
              </a:lnSpc>
            </a:pPr>
            <a:r>
              <a:rPr lang="pt-BR" sz="1800" b="1" i="1" kern="1200" dirty="0">
                <a:solidFill>
                  <a:srgbClr val="5B9BD5">
                    <a:lumMod val="50000"/>
                  </a:srgbClr>
                </a:solidFill>
                <a:latin typeface="+mj-lt"/>
                <a:ea typeface="+mn-ea"/>
                <a:cs typeface="+mn-cs"/>
              </a:rPr>
              <a:t>	</a:t>
            </a:r>
            <a:endParaRPr kumimoji="0" lang="pt-BR" sz="1000" b="0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uLnTx/>
              <a:uFillTx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432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b="1" dirty="0">
                <a:solidFill>
                  <a:schemeClr val="accent1"/>
                </a:solidFill>
                <a:latin typeface="+mj-lt"/>
              </a:rPr>
              <a:t>Atendimento Consciencioterápico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17" y="1081859"/>
            <a:ext cx="5977978" cy="268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5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  <a:latin typeface="+mj-lt"/>
              </a:rPr>
              <a:t>Técnicas Heteroconsciencioterápicas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16" y="1006945"/>
            <a:ext cx="6330318" cy="277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9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 smtClean="0">
                <a:solidFill>
                  <a:schemeClr val="accent1"/>
                </a:solidFill>
                <a:latin typeface="+mj-lt"/>
              </a:rPr>
              <a:t>Neociências Consciencioterápicas</a:t>
            </a:r>
            <a:endParaRPr lang="pt-BR" sz="2000" b="1" dirty="0">
              <a:solidFill>
                <a:schemeClr val="accent1"/>
              </a:solidFill>
              <a:latin typeface="+mj-lt"/>
            </a:endParaRPr>
          </a:p>
        </p:txBody>
      </p:sp>
      <p:graphicFrame>
        <p:nvGraphicFramePr>
          <p:cNvPr id="8" name="Objeto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974061"/>
              </p:ext>
            </p:extLst>
          </p:nvPr>
        </p:nvGraphicFramePr>
        <p:xfrm>
          <a:off x="652665" y="915988"/>
          <a:ext cx="6682449" cy="300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Document" r:id="rId4" imgW="8903928" imgH="4000965" progId="Word.Document.12">
                  <p:embed/>
                </p:oleObj>
              </mc:Choice>
              <mc:Fallback>
                <p:oleObj name="Document" r:id="rId4" imgW="8903928" imgH="40009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52665" y="915988"/>
                        <a:ext cx="6682449" cy="300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077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6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Dicionário de </a:t>
            </a:r>
            <a:r>
              <a:rPr lang="pt-BR" sz="2000" b="1" dirty="0" smtClean="0">
                <a:solidFill>
                  <a:schemeClr val="accent1"/>
                </a:solidFill>
              </a:rPr>
              <a:t>Consciencioterapeuticologia</a:t>
            </a:r>
            <a:endParaRPr lang="pt-BR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Objeto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289012"/>
              </p:ext>
            </p:extLst>
          </p:nvPr>
        </p:nvGraphicFramePr>
        <p:xfrm>
          <a:off x="1229711" y="739986"/>
          <a:ext cx="4388616" cy="3177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Document" r:id="rId4" imgW="5386812" imgH="3899907" progId="Word.Document.12">
                  <p:embed/>
                </p:oleObj>
              </mc:Choice>
              <mc:Fallback>
                <p:oleObj name="Document" r:id="rId4" imgW="5386812" imgH="38999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9711" y="739986"/>
                        <a:ext cx="4388616" cy="31779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804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=""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6577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</a:rPr>
              <a:t>Dicionário de </a:t>
            </a:r>
            <a:r>
              <a:rPr lang="pt-BR" sz="2000" b="1" dirty="0" smtClean="0">
                <a:solidFill>
                  <a:schemeClr val="accent1"/>
                </a:solidFill>
              </a:rPr>
              <a:t>Consciencioterapeuticologia</a:t>
            </a:r>
            <a:endParaRPr lang="pt-BR" sz="2000" b="1" dirty="0">
              <a:solidFill>
                <a:schemeClr val="accent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458376" y="1517866"/>
            <a:ext cx="21583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 smtClean="0">
                <a:solidFill>
                  <a:schemeClr val="accent1"/>
                </a:solidFill>
              </a:rPr>
              <a:t>Pré-venda</a:t>
            </a:r>
            <a:endParaRPr lang="pt-BR" sz="2800" b="1" dirty="0">
              <a:solidFill>
                <a:schemeClr val="accent1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594752" y="2194688"/>
            <a:ext cx="40282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sz="2800" b="1" dirty="0" smtClean="0">
                <a:solidFill>
                  <a:srgbClr val="5B9BD5"/>
                </a:solidFill>
              </a:rPr>
              <a:t>www.oic.org.br/shop</a:t>
            </a:r>
            <a:endParaRPr lang="pt-BR" sz="2800" b="1" dirty="0">
              <a:solidFill>
                <a:srgbClr val="5B9BD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69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3966</TotalTime>
  <Words>179</Words>
  <Application>Microsoft Office PowerPoint</Application>
  <PresentationFormat>Personalizar</PresentationFormat>
  <Paragraphs>49</Paragraphs>
  <Slides>14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Wingdings</vt:lpstr>
      <vt:lpstr>2_Office Theme</vt:lpstr>
      <vt:lpstr>Document</vt:lpstr>
      <vt:lpstr>Microsoft Word Document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</dc:creator>
  <cp:lastModifiedBy>Conta da Microsoft</cp:lastModifiedBy>
  <cp:revision>215</cp:revision>
  <cp:lastPrinted>2022-07-16T22:49:06Z</cp:lastPrinted>
  <dcterms:modified xsi:type="dcterms:W3CDTF">2022-07-16T22:51:12Z</dcterms:modified>
</cp:coreProperties>
</file>