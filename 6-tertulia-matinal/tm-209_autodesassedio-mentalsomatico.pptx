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handoutMasterIdLst>
    <p:handoutMasterId r:id="rId31"/>
  </p:handoutMasterIdLst>
  <p:sldIdLst>
    <p:sldId id="299" r:id="rId2"/>
    <p:sldId id="256" r:id="rId3"/>
    <p:sldId id="270" r:id="rId4"/>
    <p:sldId id="300" r:id="rId5"/>
    <p:sldId id="261" r:id="rId6"/>
    <p:sldId id="292" r:id="rId7"/>
    <p:sldId id="269" r:id="rId8"/>
    <p:sldId id="262" r:id="rId9"/>
    <p:sldId id="301" r:id="rId10"/>
    <p:sldId id="293" r:id="rId11"/>
    <p:sldId id="298" r:id="rId12"/>
    <p:sldId id="277" r:id="rId13"/>
    <p:sldId id="279" r:id="rId14"/>
    <p:sldId id="297" r:id="rId15"/>
    <p:sldId id="282" r:id="rId16"/>
    <p:sldId id="278" r:id="rId17"/>
    <p:sldId id="281" r:id="rId18"/>
    <p:sldId id="280" r:id="rId19"/>
    <p:sldId id="274" r:id="rId20"/>
    <p:sldId id="283" r:id="rId21"/>
    <p:sldId id="284" r:id="rId22"/>
    <p:sldId id="288" r:id="rId23"/>
    <p:sldId id="296" r:id="rId24"/>
    <p:sldId id="286" r:id="rId25"/>
    <p:sldId id="291" r:id="rId26"/>
    <p:sldId id="295" r:id="rId27"/>
    <p:sldId id="290" r:id="rId28"/>
    <p:sldId id="294" r:id="rId29"/>
    <p:sldId id="264" r:id="rId30"/>
  </p:sldIdLst>
  <p:sldSz cx="12192000" cy="6858000"/>
  <p:notesSz cx="6797675" cy="9925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72" y="4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04018E-1503-4EDE-889B-AE373968CCF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A8E9129-D69E-418A-B311-402A5BE78779}">
      <dgm:prSet phldrT="[Texto]" custT="1"/>
      <dgm:spPr>
        <a:xfrm>
          <a:off x="3860" y="286506"/>
          <a:ext cx="1687933" cy="1155179"/>
        </a:xfr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pt-BR" sz="1900" b="1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Autassédio</a:t>
          </a:r>
        </a:p>
        <a:p>
          <a:r>
            <a:rPr lang="pt-BR" sz="1600" b="1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Patopensenidade</a:t>
          </a:r>
          <a:endParaRPr lang="pt-BR" sz="1600" b="1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C33D9D7-CADF-4CFF-BBC6-BD32BF292494}" type="parTrans" cxnId="{4FD679FE-2904-474B-A565-0E183CE72E8C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21B133-06F8-4559-AABF-E1324CF70A1B}" type="sibTrans" cxnId="{4FD679FE-2904-474B-A565-0E183CE72E8C}">
      <dgm:prSet/>
      <dgm:spPr>
        <a:xfrm>
          <a:off x="1860587" y="654792"/>
          <a:ext cx="357841" cy="418607"/>
        </a:xfr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pt-BR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8258C7D5-20A9-4784-9B1E-4AF9123674AB}">
      <dgm:prSet phldrT="[Texto]"/>
      <dgm:spPr>
        <a:xfrm>
          <a:off x="2366967" y="286506"/>
          <a:ext cx="1687933" cy="1155179"/>
        </a:xfr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pt-BR" b="1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Ação antievolutiva</a:t>
          </a:r>
          <a:endParaRPr lang="pt-BR" b="1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F94E56B8-C74A-4FD8-B90B-7FE662A2BAE1}" type="parTrans" cxnId="{F9F828D3-F538-4DFD-B758-0F0375D2A0EE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29B61C-D56B-4540-8D4F-20099F4B99EF}" type="sibTrans" cxnId="{F9F828D3-F538-4DFD-B758-0F0375D2A0EE}">
      <dgm:prSet/>
      <dgm:spPr>
        <a:xfrm>
          <a:off x="4223694" y="654792"/>
          <a:ext cx="357841" cy="418607"/>
        </a:xfr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pt-BR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A110FA8-062F-4C5D-8FF3-1FA38892987B}">
      <dgm:prSet phldrT="[Texto]"/>
      <dgm:spPr>
        <a:xfrm>
          <a:off x="4730074" y="286506"/>
          <a:ext cx="1687933" cy="1155179"/>
        </a:xfr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pt-BR" b="1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Afinidade </a:t>
          </a:r>
          <a:r>
            <a:rPr lang="pt-BR" b="1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patopensênica</a:t>
          </a:r>
          <a:endParaRPr lang="pt-BR" b="1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886F59E-E3CC-41A9-9934-2F7E7B133F29}" type="parTrans" cxnId="{01EAC39C-F390-4531-A6E5-BCAF0863CC3F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343EB6-AACB-4D51-A085-EC37E29C907D}" type="sibTrans" cxnId="{01EAC39C-F390-4531-A6E5-BCAF0863CC3F}">
      <dgm:prSet/>
      <dgm:spPr>
        <a:xfrm>
          <a:off x="6586801" y="654792"/>
          <a:ext cx="357841" cy="418607"/>
        </a:xfr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pt-BR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9962441-0005-4183-98A0-67071E40C02F}">
      <dgm:prSet/>
      <dgm:spPr>
        <a:xfrm>
          <a:off x="7093181" y="286506"/>
          <a:ext cx="1687933" cy="1155179"/>
        </a:xfr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pt-BR" b="1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Heterassédio</a:t>
          </a:r>
          <a:endParaRPr lang="pt-BR" b="1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2EF64A8-1276-44F1-B195-27D6FB14B21A}" type="parTrans" cxnId="{D2A57080-0EB9-420B-9D46-4943256B22D5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3EC61D-7BAE-4B83-AEC1-B41F59BF9D36}" type="sibTrans" cxnId="{D2A57080-0EB9-420B-9D46-4943256B22D5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01E185-36DC-4559-9063-47F1011D1ED7}" type="pres">
      <dgm:prSet presAssocID="{8704018E-1503-4EDE-889B-AE373968CCF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9BEE7B45-F939-4547-8DBD-7A324EA0D052}" type="pres">
      <dgm:prSet presAssocID="{9A8E9129-D69E-418A-B311-402A5BE78779}" presName="node" presStyleLbl="node1" presStyleIdx="0" presStyleCnt="4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  <dgm:t>
        <a:bodyPr/>
        <a:lstStyle/>
        <a:p>
          <a:endParaRPr lang="pt-BR"/>
        </a:p>
      </dgm:t>
    </dgm:pt>
    <dgm:pt modelId="{ABD6861E-C4D7-44EB-BD10-16A47420481E}" type="pres">
      <dgm:prSet presAssocID="{1F21B133-06F8-4559-AABF-E1324CF70A1B}" presName="sibTrans" presStyleLbl="sibTrans2D1" presStyleIdx="0" presStyleCnt="3"/>
      <dgm:spPr>
        <a:prstGeom prst="rightArrow">
          <a:avLst>
            <a:gd name="adj1" fmla="val 60000"/>
            <a:gd name="adj2" fmla="val 50000"/>
          </a:avLst>
        </a:prstGeom>
      </dgm:spPr>
      <dgm:t>
        <a:bodyPr/>
        <a:lstStyle/>
        <a:p>
          <a:endParaRPr lang="pt-BR"/>
        </a:p>
      </dgm:t>
    </dgm:pt>
    <dgm:pt modelId="{1D47E8AD-7703-4A9D-BE5A-855776CA4CCC}" type="pres">
      <dgm:prSet presAssocID="{1F21B133-06F8-4559-AABF-E1324CF70A1B}" presName="connectorText" presStyleLbl="sibTrans2D1" presStyleIdx="0" presStyleCnt="3"/>
      <dgm:spPr/>
      <dgm:t>
        <a:bodyPr/>
        <a:lstStyle/>
        <a:p>
          <a:endParaRPr lang="pt-BR"/>
        </a:p>
      </dgm:t>
    </dgm:pt>
    <dgm:pt modelId="{B511941B-D69D-49BF-8FA2-4A665013C77A}" type="pres">
      <dgm:prSet presAssocID="{8258C7D5-20A9-4784-9B1E-4AF9123674AB}" presName="node" presStyleLbl="node1" presStyleIdx="1" presStyleCnt="4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  <dgm:t>
        <a:bodyPr/>
        <a:lstStyle/>
        <a:p>
          <a:endParaRPr lang="pt-BR"/>
        </a:p>
      </dgm:t>
    </dgm:pt>
    <dgm:pt modelId="{71163EED-8F6D-41D5-863B-873663069B96}" type="pres">
      <dgm:prSet presAssocID="{8829B61C-D56B-4540-8D4F-20099F4B99EF}" presName="sibTrans" presStyleLbl="sibTrans2D1" presStyleIdx="1" presStyleCnt="3"/>
      <dgm:spPr>
        <a:prstGeom prst="rightArrow">
          <a:avLst>
            <a:gd name="adj1" fmla="val 60000"/>
            <a:gd name="adj2" fmla="val 50000"/>
          </a:avLst>
        </a:prstGeom>
      </dgm:spPr>
      <dgm:t>
        <a:bodyPr/>
        <a:lstStyle/>
        <a:p>
          <a:endParaRPr lang="pt-BR"/>
        </a:p>
      </dgm:t>
    </dgm:pt>
    <dgm:pt modelId="{86D36D28-3D10-4E8B-86DB-FD0C21A20BBE}" type="pres">
      <dgm:prSet presAssocID="{8829B61C-D56B-4540-8D4F-20099F4B99EF}" presName="connectorText" presStyleLbl="sibTrans2D1" presStyleIdx="1" presStyleCnt="3"/>
      <dgm:spPr/>
      <dgm:t>
        <a:bodyPr/>
        <a:lstStyle/>
        <a:p>
          <a:endParaRPr lang="pt-BR"/>
        </a:p>
      </dgm:t>
    </dgm:pt>
    <dgm:pt modelId="{DEBFCBAE-E15F-4433-B4BE-3E8162770B70}" type="pres">
      <dgm:prSet presAssocID="{9A110FA8-062F-4C5D-8FF3-1FA38892987B}" presName="node" presStyleLbl="node1" presStyleIdx="2" presStyleCnt="4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  <dgm:t>
        <a:bodyPr/>
        <a:lstStyle/>
        <a:p>
          <a:endParaRPr lang="pt-BR"/>
        </a:p>
      </dgm:t>
    </dgm:pt>
    <dgm:pt modelId="{A110A355-5B77-4B03-AD08-CDFE16F23843}" type="pres">
      <dgm:prSet presAssocID="{65343EB6-AACB-4D51-A085-EC37E29C907D}" presName="sibTrans" presStyleLbl="sibTrans2D1" presStyleIdx="2" presStyleCnt="3"/>
      <dgm:spPr>
        <a:prstGeom prst="rightArrow">
          <a:avLst>
            <a:gd name="adj1" fmla="val 60000"/>
            <a:gd name="adj2" fmla="val 50000"/>
          </a:avLst>
        </a:prstGeom>
      </dgm:spPr>
      <dgm:t>
        <a:bodyPr/>
        <a:lstStyle/>
        <a:p>
          <a:endParaRPr lang="pt-BR"/>
        </a:p>
      </dgm:t>
    </dgm:pt>
    <dgm:pt modelId="{998B2958-A35C-497F-8762-E4F192994024}" type="pres">
      <dgm:prSet presAssocID="{65343EB6-AACB-4D51-A085-EC37E29C907D}" presName="connectorText" presStyleLbl="sibTrans2D1" presStyleIdx="2" presStyleCnt="3"/>
      <dgm:spPr/>
      <dgm:t>
        <a:bodyPr/>
        <a:lstStyle/>
        <a:p>
          <a:endParaRPr lang="pt-BR"/>
        </a:p>
      </dgm:t>
    </dgm:pt>
    <dgm:pt modelId="{01867509-B3F1-4C87-AE0B-D7A32DD9CA64}" type="pres">
      <dgm:prSet presAssocID="{39962441-0005-4183-98A0-67071E40C02F}" presName="node" presStyleLbl="node1" presStyleIdx="3" presStyleCnt="4">
        <dgm:presLayoutVars>
          <dgm:bulletEnabled val="1"/>
        </dgm:presLayoutVars>
      </dgm:prSet>
      <dgm:spPr>
        <a:prstGeom prst="roundRect">
          <a:avLst>
            <a:gd name="adj" fmla="val 10000"/>
          </a:avLst>
        </a:prstGeom>
      </dgm:spPr>
      <dgm:t>
        <a:bodyPr/>
        <a:lstStyle/>
        <a:p>
          <a:endParaRPr lang="pt-BR"/>
        </a:p>
      </dgm:t>
    </dgm:pt>
  </dgm:ptLst>
  <dgm:cxnLst>
    <dgm:cxn modelId="{187A5809-7410-470C-8F7C-7E0307C9A1DD}" type="presOf" srcId="{8258C7D5-20A9-4784-9B1E-4AF9123674AB}" destId="{B511941B-D69D-49BF-8FA2-4A665013C77A}" srcOrd="0" destOrd="0" presId="urn:microsoft.com/office/officeart/2005/8/layout/process1"/>
    <dgm:cxn modelId="{D2A57080-0EB9-420B-9D46-4943256B22D5}" srcId="{8704018E-1503-4EDE-889B-AE373968CCFB}" destId="{39962441-0005-4183-98A0-67071E40C02F}" srcOrd="3" destOrd="0" parTransId="{62EF64A8-1276-44F1-B195-27D6FB14B21A}" sibTransId="{6D3EC61D-7BAE-4B83-AEC1-B41F59BF9D36}"/>
    <dgm:cxn modelId="{3F778378-D678-462B-B6D4-96166D2F12B6}" type="presOf" srcId="{39962441-0005-4183-98A0-67071E40C02F}" destId="{01867509-B3F1-4C87-AE0B-D7A32DD9CA64}" srcOrd="0" destOrd="0" presId="urn:microsoft.com/office/officeart/2005/8/layout/process1"/>
    <dgm:cxn modelId="{01EAC39C-F390-4531-A6E5-BCAF0863CC3F}" srcId="{8704018E-1503-4EDE-889B-AE373968CCFB}" destId="{9A110FA8-062F-4C5D-8FF3-1FA38892987B}" srcOrd="2" destOrd="0" parTransId="{4886F59E-E3CC-41A9-9934-2F7E7B133F29}" sibTransId="{65343EB6-AACB-4D51-A085-EC37E29C907D}"/>
    <dgm:cxn modelId="{54594348-750E-443B-AF58-A932D21D2EB3}" type="presOf" srcId="{1F21B133-06F8-4559-AABF-E1324CF70A1B}" destId="{1D47E8AD-7703-4A9D-BE5A-855776CA4CCC}" srcOrd="1" destOrd="0" presId="urn:microsoft.com/office/officeart/2005/8/layout/process1"/>
    <dgm:cxn modelId="{5E87FC29-4D22-4CF0-8C20-30D9433DB525}" type="presOf" srcId="{65343EB6-AACB-4D51-A085-EC37E29C907D}" destId="{A110A355-5B77-4B03-AD08-CDFE16F23843}" srcOrd="0" destOrd="0" presId="urn:microsoft.com/office/officeart/2005/8/layout/process1"/>
    <dgm:cxn modelId="{FFB5D4F8-8E7F-4095-A0A0-35253A188DD5}" type="presOf" srcId="{9A110FA8-062F-4C5D-8FF3-1FA38892987B}" destId="{DEBFCBAE-E15F-4433-B4BE-3E8162770B70}" srcOrd="0" destOrd="0" presId="urn:microsoft.com/office/officeart/2005/8/layout/process1"/>
    <dgm:cxn modelId="{433B285C-9824-437A-BFBE-0430A0247E2F}" type="presOf" srcId="{8829B61C-D56B-4540-8D4F-20099F4B99EF}" destId="{86D36D28-3D10-4E8B-86DB-FD0C21A20BBE}" srcOrd="1" destOrd="0" presId="urn:microsoft.com/office/officeart/2005/8/layout/process1"/>
    <dgm:cxn modelId="{37885BB6-6D1D-46CC-824E-D1651902784A}" type="presOf" srcId="{9A8E9129-D69E-418A-B311-402A5BE78779}" destId="{9BEE7B45-F939-4547-8DBD-7A324EA0D052}" srcOrd="0" destOrd="0" presId="urn:microsoft.com/office/officeart/2005/8/layout/process1"/>
    <dgm:cxn modelId="{4FD679FE-2904-474B-A565-0E183CE72E8C}" srcId="{8704018E-1503-4EDE-889B-AE373968CCFB}" destId="{9A8E9129-D69E-418A-B311-402A5BE78779}" srcOrd="0" destOrd="0" parTransId="{3C33D9D7-CADF-4CFF-BBC6-BD32BF292494}" sibTransId="{1F21B133-06F8-4559-AABF-E1324CF70A1B}"/>
    <dgm:cxn modelId="{D8EF268E-73FD-400A-8144-22FD8E8FB9BD}" type="presOf" srcId="{1F21B133-06F8-4559-AABF-E1324CF70A1B}" destId="{ABD6861E-C4D7-44EB-BD10-16A47420481E}" srcOrd="0" destOrd="0" presId="urn:microsoft.com/office/officeart/2005/8/layout/process1"/>
    <dgm:cxn modelId="{EB611AEC-8976-41AC-AC86-05644907819F}" type="presOf" srcId="{8704018E-1503-4EDE-889B-AE373968CCFB}" destId="{8801E185-36DC-4559-9063-47F1011D1ED7}" srcOrd="0" destOrd="0" presId="urn:microsoft.com/office/officeart/2005/8/layout/process1"/>
    <dgm:cxn modelId="{6FA7F028-AEF0-4190-BAC1-85068195186C}" type="presOf" srcId="{65343EB6-AACB-4D51-A085-EC37E29C907D}" destId="{998B2958-A35C-497F-8762-E4F192994024}" srcOrd="1" destOrd="0" presId="urn:microsoft.com/office/officeart/2005/8/layout/process1"/>
    <dgm:cxn modelId="{F9F828D3-F538-4DFD-B758-0F0375D2A0EE}" srcId="{8704018E-1503-4EDE-889B-AE373968CCFB}" destId="{8258C7D5-20A9-4784-9B1E-4AF9123674AB}" srcOrd="1" destOrd="0" parTransId="{F94E56B8-C74A-4FD8-B90B-7FE662A2BAE1}" sibTransId="{8829B61C-D56B-4540-8D4F-20099F4B99EF}"/>
    <dgm:cxn modelId="{61B58B42-4D1C-401C-90E6-1AC3B95A4E73}" type="presOf" srcId="{8829B61C-D56B-4540-8D4F-20099F4B99EF}" destId="{71163EED-8F6D-41D5-863B-873663069B96}" srcOrd="0" destOrd="0" presId="urn:microsoft.com/office/officeart/2005/8/layout/process1"/>
    <dgm:cxn modelId="{5021F02F-5816-4BF7-8D00-13759FAFA7CB}" type="presParOf" srcId="{8801E185-36DC-4559-9063-47F1011D1ED7}" destId="{9BEE7B45-F939-4547-8DBD-7A324EA0D052}" srcOrd="0" destOrd="0" presId="urn:microsoft.com/office/officeart/2005/8/layout/process1"/>
    <dgm:cxn modelId="{F1423E43-6A27-479B-AEE7-4DDFE72525C2}" type="presParOf" srcId="{8801E185-36DC-4559-9063-47F1011D1ED7}" destId="{ABD6861E-C4D7-44EB-BD10-16A47420481E}" srcOrd="1" destOrd="0" presId="urn:microsoft.com/office/officeart/2005/8/layout/process1"/>
    <dgm:cxn modelId="{52AF1D7C-DC61-41B5-9ED7-F28100AC06FF}" type="presParOf" srcId="{ABD6861E-C4D7-44EB-BD10-16A47420481E}" destId="{1D47E8AD-7703-4A9D-BE5A-855776CA4CCC}" srcOrd="0" destOrd="0" presId="urn:microsoft.com/office/officeart/2005/8/layout/process1"/>
    <dgm:cxn modelId="{5554ED74-26F4-43A3-BB7A-9680E78700E6}" type="presParOf" srcId="{8801E185-36DC-4559-9063-47F1011D1ED7}" destId="{B511941B-D69D-49BF-8FA2-4A665013C77A}" srcOrd="2" destOrd="0" presId="urn:microsoft.com/office/officeart/2005/8/layout/process1"/>
    <dgm:cxn modelId="{ECBEE83F-7139-4292-8DE5-A58D8E997D43}" type="presParOf" srcId="{8801E185-36DC-4559-9063-47F1011D1ED7}" destId="{71163EED-8F6D-41D5-863B-873663069B96}" srcOrd="3" destOrd="0" presId="urn:microsoft.com/office/officeart/2005/8/layout/process1"/>
    <dgm:cxn modelId="{3C0F8CDD-3DC2-4571-BD6B-CA65109418B6}" type="presParOf" srcId="{71163EED-8F6D-41D5-863B-873663069B96}" destId="{86D36D28-3D10-4E8B-86DB-FD0C21A20BBE}" srcOrd="0" destOrd="0" presId="urn:microsoft.com/office/officeart/2005/8/layout/process1"/>
    <dgm:cxn modelId="{7485B21D-30AD-4334-A153-B5AC8564CEA5}" type="presParOf" srcId="{8801E185-36DC-4559-9063-47F1011D1ED7}" destId="{DEBFCBAE-E15F-4433-B4BE-3E8162770B70}" srcOrd="4" destOrd="0" presId="urn:microsoft.com/office/officeart/2005/8/layout/process1"/>
    <dgm:cxn modelId="{1226C790-E88F-4B64-B1ED-B0CD1E605E75}" type="presParOf" srcId="{8801E185-36DC-4559-9063-47F1011D1ED7}" destId="{A110A355-5B77-4B03-AD08-CDFE16F23843}" srcOrd="5" destOrd="0" presId="urn:microsoft.com/office/officeart/2005/8/layout/process1"/>
    <dgm:cxn modelId="{38ED3583-5019-4492-AC15-679447C6A895}" type="presParOf" srcId="{A110A355-5B77-4B03-AD08-CDFE16F23843}" destId="{998B2958-A35C-497F-8762-E4F192994024}" srcOrd="0" destOrd="0" presId="urn:microsoft.com/office/officeart/2005/8/layout/process1"/>
    <dgm:cxn modelId="{992447B4-0D01-4661-84FA-0A52634E7AD6}" type="presParOf" srcId="{8801E185-36DC-4559-9063-47F1011D1ED7}" destId="{01867509-B3F1-4C87-AE0B-D7A32DD9CA6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E7B45-F939-4547-8DBD-7A324EA0D052}">
      <dsp:nvSpPr>
        <dsp:cNvPr id="0" name=""/>
        <dsp:cNvSpPr/>
      </dsp:nvSpPr>
      <dsp:spPr>
        <a:xfrm>
          <a:off x="4383" y="21838"/>
          <a:ext cx="1916428" cy="1149857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Autassédio</a:t>
          </a: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1" kern="1200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Patopensenidade</a:t>
          </a:r>
          <a:endParaRPr lang="pt-BR" sz="1600" b="1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38061" y="55516"/>
        <a:ext cx="1849072" cy="1082501"/>
      </dsp:txXfrm>
    </dsp:sp>
    <dsp:sp modelId="{ABD6861E-C4D7-44EB-BD10-16A47420481E}">
      <dsp:nvSpPr>
        <dsp:cNvPr id="0" name=""/>
        <dsp:cNvSpPr/>
      </dsp:nvSpPr>
      <dsp:spPr>
        <a:xfrm>
          <a:off x="2112454" y="359129"/>
          <a:ext cx="406282" cy="47527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600" kern="120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112454" y="454184"/>
        <a:ext cx="284397" cy="285164"/>
      </dsp:txXfrm>
    </dsp:sp>
    <dsp:sp modelId="{B511941B-D69D-49BF-8FA2-4A665013C77A}">
      <dsp:nvSpPr>
        <dsp:cNvPr id="0" name=""/>
        <dsp:cNvSpPr/>
      </dsp:nvSpPr>
      <dsp:spPr>
        <a:xfrm>
          <a:off x="2687383" y="21838"/>
          <a:ext cx="1916428" cy="1149857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Ação antievolutiva</a:t>
          </a:r>
          <a:endParaRPr lang="pt-BR" sz="1900" b="1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721061" y="55516"/>
        <a:ext cx="1849072" cy="1082501"/>
      </dsp:txXfrm>
    </dsp:sp>
    <dsp:sp modelId="{71163EED-8F6D-41D5-863B-873663069B96}">
      <dsp:nvSpPr>
        <dsp:cNvPr id="0" name=""/>
        <dsp:cNvSpPr/>
      </dsp:nvSpPr>
      <dsp:spPr>
        <a:xfrm>
          <a:off x="4795454" y="359129"/>
          <a:ext cx="406282" cy="47527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600" kern="120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795454" y="454184"/>
        <a:ext cx="284397" cy="285164"/>
      </dsp:txXfrm>
    </dsp:sp>
    <dsp:sp modelId="{DEBFCBAE-E15F-4433-B4BE-3E8162770B70}">
      <dsp:nvSpPr>
        <dsp:cNvPr id="0" name=""/>
        <dsp:cNvSpPr/>
      </dsp:nvSpPr>
      <dsp:spPr>
        <a:xfrm>
          <a:off x="5370383" y="21838"/>
          <a:ext cx="1916428" cy="1149857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dirty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Afinidade </a:t>
          </a:r>
          <a:r>
            <a:rPr lang="pt-BR" sz="1900" b="1" kern="1200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patopensênica</a:t>
          </a:r>
          <a:endParaRPr lang="pt-BR" sz="1900" b="1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404061" y="55516"/>
        <a:ext cx="1849072" cy="1082501"/>
      </dsp:txXfrm>
    </dsp:sp>
    <dsp:sp modelId="{A110A355-5B77-4B03-AD08-CDFE16F23843}">
      <dsp:nvSpPr>
        <dsp:cNvPr id="0" name=""/>
        <dsp:cNvSpPr/>
      </dsp:nvSpPr>
      <dsp:spPr>
        <a:xfrm>
          <a:off x="7478454" y="359129"/>
          <a:ext cx="406282" cy="475274"/>
        </a:xfrm>
        <a:prstGeom prst="rightArrow">
          <a:avLst>
            <a:gd name="adj1" fmla="val 60000"/>
            <a:gd name="adj2" fmla="val 50000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600" kern="120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478454" y="454184"/>
        <a:ext cx="284397" cy="285164"/>
      </dsp:txXfrm>
    </dsp:sp>
    <dsp:sp modelId="{01867509-B3F1-4C87-AE0B-D7A32DD9CA64}">
      <dsp:nvSpPr>
        <dsp:cNvPr id="0" name=""/>
        <dsp:cNvSpPr/>
      </dsp:nvSpPr>
      <dsp:spPr>
        <a:xfrm>
          <a:off x="8053383" y="21838"/>
          <a:ext cx="1916428" cy="1149857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b="1" kern="1200" dirty="0" smtClean="0">
              <a:solidFill>
                <a:sysClr val="window" lastClr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Heterassédio</a:t>
          </a:r>
          <a:endParaRPr lang="pt-BR" sz="1900" b="1" kern="1200" dirty="0">
            <a:solidFill>
              <a:sysClr val="window" lastClr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8087061" y="55516"/>
        <a:ext cx="1849072" cy="10825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369DD-920E-49D3-84A6-8EA5CC762EFC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B2FEF-F9C0-4785-8614-2FAAF20C2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6295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bg1"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 smtClean="0"/>
              <a:t>Curso Autodesassédio Mentalsomático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  <p:pic>
        <p:nvPicPr>
          <p:cNvPr id="1026" name="Picture 2" descr="Uniesc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293" y="5818131"/>
            <a:ext cx="3238500" cy="819151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74" y="5825031"/>
            <a:ext cx="1704975" cy="8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00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 smtClean="0"/>
              <a:t>Curso Autodesassédio Mentalsomático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2" descr="Uniesc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293" y="5818131"/>
            <a:ext cx="3238500" cy="819151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74" y="5825031"/>
            <a:ext cx="1704975" cy="8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86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87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41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7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56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337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92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68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25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BFEFE-4D34-474A-8650-1CD2C264AA27}" type="datetimeFigureOut">
              <a:rPr lang="pt-BR" smtClean="0"/>
              <a:t>08/11/2019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85DA5-0CE6-4442-B6A6-DE211ADA45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44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3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2486" y="2947709"/>
            <a:ext cx="12034003" cy="962582"/>
          </a:xfrm>
        </p:spPr>
        <p:txBody>
          <a:bodyPr>
            <a:noAutofit/>
          </a:bodyPr>
          <a:lstStyle/>
          <a:p>
            <a:r>
              <a:rPr lang="pt-BR" sz="5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Autodesassédio </a:t>
            </a:r>
            <a:r>
              <a:rPr lang="pt-BR" sz="5400" b="1" i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5400" b="1" i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5400" b="1" i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Mentalsomático do Escritor</a:t>
            </a:r>
            <a:endParaRPr lang="pt-BR" sz="5400" b="1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42082" y="2209361"/>
            <a:ext cx="11434812" cy="2048314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pt-BR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b="1" i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autodesassédio mentalsomático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é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 fixação da autopensenidade na racionalidade autocrítica na aplicação dos atributos conscienciais.</a:t>
            </a:r>
            <a:endParaRPr lang="pt-BR" sz="1050" dirty="0" smtClean="0"/>
          </a:p>
          <a:p>
            <a:pPr algn="just">
              <a:lnSpc>
                <a:spcPct val="100000"/>
              </a:lnSpc>
            </a:pPr>
            <a:r>
              <a:rPr lang="pt-BR" sz="700" dirty="0"/>
              <a:t>	</a:t>
            </a:r>
            <a:endParaRPr lang="pt-BR" sz="700" dirty="0" smtClean="0"/>
          </a:p>
          <a:p>
            <a:pPr algn="just">
              <a:lnSpc>
                <a:spcPct val="100000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Sem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deixar qualquer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tipo de brecha pensênica para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auto ou heterassédio.</a:t>
            </a:r>
          </a:p>
          <a:p>
            <a:pPr algn="just">
              <a:lnSpc>
                <a:spcPct val="130000"/>
              </a:lnSpc>
            </a:pPr>
            <a:endParaRPr lang="pt-BR" sz="3200" dirty="0" smtClean="0"/>
          </a:p>
          <a:p>
            <a:pPr algn="just">
              <a:lnSpc>
                <a:spcPct val="130000"/>
              </a:lnSpc>
            </a:pP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pt-BR" sz="3200" dirty="0"/>
          </a:p>
          <a:p>
            <a:pPr algn="just">
              <a:lnSpc>
                <a:spcPct val="130000"/>
              </a:lnSpc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01688" y="304799"/>
            <a:ext cx="10515600" cy="1007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Autodesassédio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Mentalsomático</a:t>
            </a:r>
          </a:p>
        </p:txBody>
      </p:sp>
    </p:spTree>
    <p:extLst>
      <p:ext uri="{BB962C8B-B14F-4D97-AF65-F5344CB8AC3E}">
        <p14:creationId xmlns:p14="http://schemas.microsoft.com/office/powerpoint/2010/main" val="263655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3057" y="1790261"/>
            <a:ext cx="11434812" cy="2048314"/>
          </a:xfrm>
        </p:spPr>
        <p:txBody>
          <a:bodyPr>
            <a:noAutofit/>
          </a:bodyPr>
          <a:lstStyle/>
          <a:p>
            <a:pPr algn="just"/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Ainda </a:t>
            </a:r>
            <a:r>
              <a:rPr lang="pt-BR" sz="2600" b="1" dirty="0">
                <a:latin typeface="Arial" panose="020B0604020202020204" pitchFamily="34" charset="0"/>
                <a:cs typeface="Arial" panose="020B0604020202020204" pitchFamily="34" charset="0"/>
              </a:rPr>
              <a:t>não é</a:t>
            </a:r>
            <a:r>
              <a:rPr lang="pt-BR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pt-B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 superação de algum travão emocional, 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exemplo culpa, raiva, ou timidez (autodesassédio psicossomático, ou emocional).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O desbloqueio de um chacra específico (autodesassédio energético). 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 sensação de bem-estar gerada por um padrão energético homeostático patrocinado externamente por campo ou professor (heterodesassédio). </a:t>
            </a:r>
          </a:p>
          <a:p>
            <a:pPr marL="342900" lvl="0" indent="-342900" algn="just">
              <a:buFont typeface="Wingdings" panose="05000000000000000000" pitchFamily="2" charset="2"/>
              <a:buChar char="ü"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A intelectualidade avançada desconectada das vivências do próprio autor (intelectualidade superficial).  </a:t>
            </a:r>
            <a:endParaRPr lang="pt-BR" sz="2600" dirty="0" smtClean="0"/>
          </a:p>
          <a:p>
            <a:pPr algn="just">
              <a:lnSpc>
                <a:spcPct val="130000"/>
              </a:lnSpc>
            </a:pP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pt-BR" sz="2600" dirty="0"/>
          </a:p>
          <a:p>
            <a:pPr algn="just">
              <a:lnSpc>
                <a:spcPct val="130000"/>
              </a:lnSpc>
            </a:pPr>
            <a:endParaRPr lang="pt-BR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01688" y="304799"/>
            <a:ext cx="10515600" cy="1007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Autodesassédio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Mentalsomático</a:t>
            </a:r>
          </a:p>
        </p:txBody>
      </p:sp>
    </p:spTree>
    <p:extLst>
      <p:ext uri="{BB962C8B-B14F-4D97-AF65-F5344CB8AC3E}">
        <p14:creationId xmlns:p14="http://schemas.microsoft.com/office/powerpoint/2010/main" val="14009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52986"/>
            <a:ext cx="8911687" cy="810054"/>
          </a:xfrm>
        </p:spPr>
        <p:txBody>
          <a:bodyPr>
            <a:no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Taxologia da </a:t>
            </a:r>
            <a:r>
              <a:rPr lang="pt-BR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Assedialidade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9389" y="1944303"/>
            <a:ext cx="11273606" cy="4111299"/>
          </a:xfrm>
        </p:spPr>
        <p:txBody>
          <a:bodyPr>
            <a:noAutofit/>
          </a:bodyPr>
          <a:lstStyle/>
          <a:p>
            <a:pPr marL="857250" lvl="1" indent="-457200" algn="just">
              <a:buFont typeface="Wingdings" panose="05000000000000000000" pitchFamily="2" charset="2"/>
              <a:buChar char="Ø"/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Quanto ao Agente</a:t>
            </a:r>
          </a:p>
          <a:p>
            <a:pPr marL="400050" lvl="1" indent="0" algn="just">
              <a:buNone/>
            </a:pP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7550" lvl="1" indent="-260350" algn="just">
              <a:buFont typeface="Arial"/>
              <a:buChar char="•"/>
              <a:tabLst>
                <a:tab pos="7175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Assédio feito pela 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pessoa contra si mesma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17550" lvl="1" indent="-260350">
              <a:buFont typeface="Arial"/>
              <a:buChar char="•"/>
              <a:tabLst>
                <a:tab pos="717550" algn="l"/>
              </a:tabLst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Assédio impetrado por outra consciência – 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heterassédio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000" dirty="0" smtClean="0"/>
          </a:p>
          <a:p>
            <a:pPr marL="0" indent="0">
              <a:buNone/>
            </a:pPr>
            <a:endParaRPr lang="pt-BR" sz="2000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243594120"/>
              </p:ext>
            </p:extLst>
          </p:nvPr>
        </p:nvGraphicFramePr>
        <p:xfrm>
          <a:off x="664143" y="3888606"/>
          <a:ext cx="9974195" cy="1193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eta em curva para cima 4"/>
          <p:cNvSpPr/>
          <p:nvPr/>
        </p:nvSpPr>
        <p:spPr>
          <a:xfrm flipH="1">
            <a:off x="2024693" y="5254272"/>
            <a:ext cx="7439768" cy="99453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277068" y="5957002"/>
            <a:ext cx="1121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Reforço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eta para baixo 6"/>
          <p:cNvSpPr/>
          <p:nvPr/>
        </p:nvSpPr>
        <p:spPr>
          <a:xfrm rot="19678264">
            <a:off x="1857" y="2979898"/>
            <a:ext cx="695144" cy="904568"/>
          </a:xfrm>
          <a:prstGeom prst="downArrow">
            <a:avLst>
              <a:gd name="adj1" fmla="val 50000"/>
              <a:gd name="adj2" fmla="val 46874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58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52986"/>
            <a:ext cx="8911687" cy="810054"/>
          </a:xfrm>
        </p:spPr>
        <p:txBody>
          <a:bodyPr>
            <a:no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Taxologia da </a:t>
            </a:r>
            <a:r>
              <a:rPr lang="pt-BR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Assedialidade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5641" y="1979596"/>
            <a:ext cx="11273606" cy="3777622"/>
          </a:xfrm>
        </p:spPr>
        <p:txBody>
          <a:bodyPr>
            <a:noAutofit/>
          </a:bodyPr>
          <a:lstStyle/>
          <a:p>
            <a:pPr marL="452438" lvl="1" indent="-452438" algn="just">
              <a:buFont typeface="Wingdings" panose="05000000000000000000" pitchFamily="2" charset="2"/>
              <a:buChar char="Ø"/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ao </a:t>
            </a: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Veículo de Manifestação Consciencial</a:t>
            </a:r>
          </a:p>
          <a:p>
            <a:pPr marL="400050" lvl="1" indent="0" algn="just">
              <a:buNone/>
            </a:pPr>
            <a:endParaRPr lang="pt-B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algn="just">
              <a:buNone/>
            </a:pP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7550" lvl="1" indent="-260350" algn="just">
              <a:buFont typeface="Arial"/>
              <a:buChar char="•"/>
              <a:tabLst>
                <a:tab pos="717550" algn="l"/>
              </a:tabLst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 psicossomático – (predominantemente) emocional.</a:t>
            </a:r>
          </a:p>
          <a:p>
            <a:pPr marL="717550" lvl="1" indent="-260350" algn="just">
              <a:buFont typeface="Arial"/>
              <a:buChar char="•"/>
              <a:tabLst>
                <a:tab pos="717550" algn="l"/>
              </a:tabLst>
            </a:pPr>
            <a:endParaRPr lang="pt-B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ctr">
              <a:buNone/>
              <a:tabLst>
                <a:tab pos="717550" algn="l"/>
              </a:tabLst>
            </a:pPr>
            <a:endParaRPr lang="pt-BR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ctr">
              <a:buNone/>
              <a:tabLst>
                <a:tab pos="717550" algn="l"/>
              </a:tabLst>
            </a:pPr>
            <a:r>
              <a:rPr lang="pt-BR" i="1" dirty="0" smtClean="0">
                <a:latin typeface="Arial" panose="020B0604020202020204" pitchFamily="34" charset="0"/>
                <a:cs typeface="Arial" panose="020B0604020202020204" pitchFamily="34" charset="0"/>
              </a:rPr>
              <a:t>Sentimento de desvalor pessoal</a:t>
            </a:r>
          </a:p>
          <a:p>
            <a:pPr marL="0" lvl="1" indent="0" algn="ctr">
              <a:buNone/>
              <a:tabLst>
                <a:tab pos="717550" algn="l"/>
              </a:tabLst>
            </a:pPr>
            <a:r>
              <a:rPr lang="pt-BR" i="1" dirty="0" smtClean="0">
                <a:latin typeface="Arial" panose="020B0604020202020204" pitchFamily="34" charset="0"/>
                <a:cs typeface="Arial" panose="020B0604020202020204" pitchFamily="34" charset="0"/>
              </a:rPr>
              <a:t>Resulta em pensenes ... “Não tenho competência para escrever um livro...”</a:t>
            </a:r>
            <a:endParaRPr lang="pt-BR" sz="24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  <a:tabLst>
                <a:tab pos="717550" algn="l"/>
              </a:tabLst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marL="457200" lvl="1" indent="0" algn="just">
              <a:buNone/>
              <a:tabLst>
                <a:tab pos="717550" algn="l"/>
              </a:tabLst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0941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92925" y="652986"/>
            <a:ext cx="8911687" cy="810054"/>
          </a:xfrm>
        </p:spPr>
        <p:txBody>
          <a:bodyPr>
            <a:no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Taxologia da </a:t>
            </a:r>
            <a:r>
              <a:rPr lang="pt-BR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Assedialidade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5641" y="1979596"/>
            <a:ext cx="11273606" cy="3777622"/>
          </a:xfrm>
        </p:spPr>
        <p:txBody>
          <a:bodyPr>
            <a:noAutofit/>
          </a:bodyPr>
          <a:lstStyle/>
          <a:p>
            <a:pPr marL="452438" lvl="1" indent="-452438" algn="just">
              <a:buFont typeface="Wingdings" panose="05000000000000000000" pitchFamily="2" charset="2"/>
              <a:buChar char="Ø"/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Quanto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ao </a:t>
            </a: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Veículo de Manifestação Consciencial</a:t>
            </a:r>
          </a:p>
          <a:p>
            <a:pPr marL="400050" lvl="1" indent="0" algn="just">
              <a:buNone/>
            </a:pPr>
            <a:endParaRPr lang="pt-B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algn="just">
              <a:buNone/>
            </a:pP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7550" lvl="1" indent="-260350" algn="just">
              <a:buFont typeface="Arial"/>
              <a:buChar char="•"/>
              <a:tabLst>
                <a:tab pos="717550" algn="l"/>
              </a:tabLst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 mentalsomático – de bases intelectuais.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6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“Estou escrevendo 4 livros simultaneamente...” (falta de autocrítica?)</a:t>
            </a:r>
          </a:p>
          <a:p>
            <a:pPr marL="0" indent="0" algn="ctr">
              <a:buNone/>
            </a:pP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“Não há mais nada para escrever, o Waldo já escreveu tudo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!” </a:t>
            </a: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(autocorrupção?)</a:t>
            </a:r>
            <a:endParaRPr lang="pt-BR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pt-BR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94985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Assédio Mentalsomático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130118"/>
            <a:ext cx="10515600" cy="257523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 mentalsomático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é a condição ou estado da conscin predispos­ta a aplicar os atributos men­tais­so­máti­cos de modo truncado, dis­torcido, irrefletido ou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anticos­moé­ti­co, afetando a cognição e a percepção da conscin.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7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Assédio Mentalsomático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838200" y="2136338"/>
            <a:ext cx="106013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Assédio psicossomático </a:t>
            </a:r>
            <a:r>
              <a:rPr lang="pt-BR" sz="32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emoção dominadora.</a:t>
            </a:r>
          </a:p>
          <a:p>
            <a:pPr>
              <a:lnSpc>
                <a:spcPct val="150000"/>
              </a:lnSpc>
            </a:pPr>
            <a:endParaRPr lang="pt-B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3200" b="1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Assédio men­talsomático </a:t>
            </a:r>
            <a:r>
              <a:rPr lang="pt-BR" sz="32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problema no processamento </a:t>
            </a:r>
            <a:r>
              <a:rPr lang="pt-BR" sz="3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cogni­tivo, percep­tivo e </a:t>
            </a:r>
            <a:r>
              <a:rPr lang="pt-BR" sz="32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paraperceptivo.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7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Assédio Mentalsomático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838200" y="2376154"/>
            <a:ext cx="10601325" cy="2217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heterassédio mentalsomático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é aquele instalado a partir do </a:t>
            </a:r>
            <a:r>
              <a:rPr lang="pt-BR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traf</a:t>
            </a:r>
            <a:r>
              <a:rPr lang="pt-BR" sz="3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pt-BR" sz="3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mentalsomático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capaz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de afetar o processo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cognitivo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3200" u="sng" dirty="0">
                <a:latin typeface="Arial" panose="020B0604020202020204" pitchFamily="34" charset="0"/>
                <a:cs typeface="Arial" panose="020B0604020202020204" pitchFamily="34" charset="0"/>
              </a:rPr>
              <a:t>perceptivo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da conscin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198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43125" y="357065"/>
            <a:ext cx="7696200" cy="1325563"/>
          </a:xfrm>
        </p:spPr>
        <p:txBody>
          <a:bodyPr/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 Mentalsomático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2643188" y="2662237"/>
            <a:ext cx="2638425" cy="9048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Autovulnerabilidades afetivas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 de cantos arredondados 6"/>
          <p:cNvSpPr/>
          <p:nvPr/>
        </p:nvSpPr>
        <p:spPr>
          <a:xfrm>
            <a:off x="5920151" y="2662237"/>
            <a:ext cx="1878013" cy="9048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Autassédio </a:t>
            </a:r>
            <a:r>
              <a:rPr lang="pt-BR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Intelectual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eta para a direita 7"/>
          <p:cNvSpPr/>
          <p:nvPr/>
        </p:nvSpPr>
        <p:spPr>
          <a:xfrm rot="19053485">
            <a:off x="2848334" y="4204100"/>
            <a:ext cx="600075" cy="409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6157683" y="4393159"/>
            <a:ext cx="1402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Decidofobia</a:t>
            </a:r>
            <a:endParaRPr lang="pt-BR" dirty="0"/>
          </a:p>
        </p:txBody>
      </p:sp>
      <p:sp>
        <p:nvSpPr>
          <p:cNvPr id="13" name="Cruz 12"/>
          <p:cNvSpPr/>
          <p:nvPr/>
        </p:nvSpPr>
        <p:spPr>
          <a:xfrm>
            <a:off x="5419327" y="2947986"/>
            <a:ext cx="363110" cy="333375"/>
          </a:xfrm>
          <a:prstGeom prst="plus">
            <a:avLst>
              <a:gd name="adj" fmla="val 42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710717" y="4652981"/>
            <a:ext cx="2078038" cy="9048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Heterassédio  mentalsomático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eta para a direita 14"/>
          <p:cNvSpPr/>
          <p:nvPr/>
        </p:nvSpPr>
        <p:spPr>
          <a:xfrm>
            <a:off x="8341633" y="2967036"/>
            <a:ext cx="552450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9075240" y="2662235"/>
            <a:ext cx="2145210" cy="9048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Afeta processos Perceptivos e Cognitivos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997802" y="1902607"/>
            <a:ext cx="6162675" cy="244318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/>
          <p:cNvSpPr/>
          <p:nvPr/>
        </p:nvSpPr>
        <p:spPr>
          <a:xfrm>
            <a:off x="6003794" y="4880093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Rigidez mental</a:t>
            </a:r>
            <a:endParaRPr lang="pt-BR" dirty="0"/>
          </a:p>
        </p:txBody>
      </p:sp>
      <p:cxnSp>
        <p:nvCxnSpPr>
          <p:cNvPr id="20" name="Conector de seta reta 19"/>
          <p:cNvCxnSpPr/>
          <p:nvPr/>
        </p:nvCxnSpPr>
        <p:spPr>
          <a:xfrm>
            <a:off x="7896225" y="4577825"/>
            <a:ext cx="445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/>
          <p:nvPr/>
        </p:nvCxnSpPr>
        <p:spPr>
          <a:xfrm>
            <a:off x="7937773" y="5064759"/>
            <a:ext cx="445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21"/>
          <p:cNvSpPr/>
          <p:nvPr/>
        </p:nvSpPr>
        <p:spPr>
          <a:xfrm>
            <a:off x="8443064" y="4393159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Hesitação crassa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8423762" y="4880093"/>
            <a:ext cx="199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Verdade Absoluta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501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7375" y="403225"/>
            <a:ext cx="10944225" cy="1325563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Algumas Dimensões do Autodesassédio Mentalsomático Importantes para o Escritor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24050" y="2206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Dimensão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Autorganizacional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Dimensão Cognitiva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Conteudística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Intencional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Megafocal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Parapsíquica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Volitiva</a:t>
            </a:r>
          </a:p>
          <a:p>
            <a:pPr marL="0" indent="0">
              <a:spcBef>
                <a:spcPts val="1200"/>
              </a:spcBef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52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Cognitiva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42950" y="1962149"/>
            <a:ext cx="10825162" cy="5381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Análise de eventuais </a:t>
            </a:r>
            <a:r>
              <a:rPr lang="pt-BR" sz="3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distorções cognitivas 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quanto à própria realidade e potencialidade para a produzir a autogescon.</a:t>
            </a:r>
          </a:p>
          <a:p>
            <a:pPr marL="0" indent="0">
              <a:buNone/>
            </a:pPr>
            <a:endParaRPr lang="pt-BR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61950"/>
            <a:r>
              <a:rPr lang="pt-BR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Generalização: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“Nada do que escrevo vale a pena publicar.”</a:t>
            </a:r>
          </a:p>
          <a:p>
            <a:pPr marL="0" indent="361950"/>
            <a:r>
              <a:rPr lang="pt-BR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Desqualificação </a:t>
            </a:r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BR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positivo: </a:t>
            </a:r>
            <a:r>
              <a:rPr lang="pt-BR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“Minhas experiências pessoais e minhas ideias não são nada de mais...”</a:t>
            </a:r>
            <a:endParaRPr lang="pt-B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endParaRPr lang="pt-BR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87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Cognitiva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42950" y="1876424"/>
            <a:ext cx="10825162" cy="5381625"/>
          </a:xfrm>
        </p:spPr>
        <p:txBody>
          <a:bodyPr>
            <a:normAutofit/>
          </a:bodyPr>
          <a:lstStyle/>
          <a:p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Minimização: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“Eu tenho algumas experiências parapsíquicas que poderia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relatar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, mas muitas pessoas também as tem, até superiores do que as minhas...”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indent="-361950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Personalização: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“Eu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perdi a motivação para continuar a escrever depois da crítica que recebi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sobre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os meus textos...”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20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Cognitiva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3418" y="1719262"/>
            <a:ext cx="10825162" cy="3419476"/>
          </a:xfrm>
        </p:spPr>
        <p:txBody>
          <a:bodyPr>
            <a:noAutofit/>
          </a:bodyPr>
          <a:lstStyle/>
          <a:p>
            <a:pPr marL="361950" indent="-361950"/>
            <a:endParaRPr lang="pt-B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r>
              <a:rPr lang="pt-B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Dica: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toda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vez que você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tiver algum pensene que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pode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afastá-lo da escrita do 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seu livro, 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reflita: </a:t>
            </a:r>
          </a:p>
          <a:p>
            <a:pPr marL="266700" indent="0">
              <a:buNone/>
            </a:pP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 algn="ctr">
              <a:buNone/>
            </a:pPr>
            <a:r>
              <a:rPr lang="pt-BR" sz="3200" b="1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Isso </a:t>
            </a:r>
            <a:r>
              <a:rPr lang="pt-BR" sz="32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pode ser </a:t>
            </a:r>
            <a:r>
              <a:rPr lang="pt-BR" sz="3200" b="1" i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Autassédio! </a:t>
            </a:r>
          </a:p>
          <a:p>
            <a:pPr marL="266700" indent="0" algn="ctr">
              <a:buNone/>
            </a:pP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usque </a:t>
            </a:r>
            <a:r>
              <a:rPr lang="pt-BR" sz="3200" i="1" dirty="0">
                <a:latin typeface="Arial" panose="020B0604020202020204" pitchFamily="34" charset="0"/>
                <a:cs typeface="Arial" panose="020B0604020202020204" pitchFamily="34" charset="0"/>
              </a:rPr>
              <a:t>mudar o foco da autopensenização de imediato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r>
              <a:rPr lang="pt-B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Atue pela </a:t>
            </a:r>
            <a:r>
              <a:rPr lang="pt-BR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Autoprofilaxiologia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66700" indent="0">
              <a:buNone/>
            </a:pPr>
            <a:endParaRPr lang="pt-BR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77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Dimensão </a:t>
            </a: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Conteudística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Há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lacunas na minha formação cultural que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podem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dificultar a escrita do livro pessoal?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0"/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Qual o nível do seu conhecimento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 idioma português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0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Qual o nível do seu conhecimento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do paradigma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consciencial? Você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vivencia em algum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conflito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de paradigmas?</a:t>
            </a:r>
          </a:p>
          <a:p>
            <a:pPr marL="542925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93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Intencional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3375" y="1566863"/>
            <a:ext cx="114490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pt-BR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Analise se há algum tipo de intenção patológica ou desqualificada nas ideias que possui em relação a escrita do livro conscienciológico.</a:t>
            </a:r>
          </a:p>
          <a:p>
            <a:pPr marL="0" indent="0">
              <a:lnSpc>
                <a:spcPct val="120000"/>
              </a:lnSpc>
              <a:buNone/>
            </a:pPr>
            <a:endParaRPr lang="pt-BR" sz="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26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sz="2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“Nem todo intermissivista precisa escrever um livro para cumprir a proéxis!”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pt-B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	 Já aplicou a </a:t>
            </a:r>
            <a:r>
              <a:rPr lang="pt-BR" sz="2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técnica da análise da intencionalidade 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quanto à redação da autogescon?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 Qual a sua real intenção? </a:t>
            </a:r>
            <a:endParaRPr lang="pt-BR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pt-BR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171700" y="5546726"/>
            <a:ext cx="6462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“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Cosmoética.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ausência da Cosmoética é a maior porta para o assédio interconsciencial mentalsomático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.” </a:t>
            </a:r>
            <a:r>
              <a:rPr lang="pt-BR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Waldo Vieira</a:t>
            </a:r>
            <a:endParaRPr lang="pt-BR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8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Autorganizacional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235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Como está sua organização e disciplina para a escrita do livro?</a:t>
            </a:r>
          </a:p>
          <a:p>
            <a:pPr marL="0" indent="0">
              <a:buNone/>
            </a:pPr>
            <a:endParaRPr lang="pt-B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Descontinuidade x Continuidade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	Incúria. 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falta de cuidado, o desleixo e a negligência fazem a conscin não se aperceber das sutilezas do assédio </a:t>
            </a: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mentalsomático.</a:t>
            </a:r>
          </a:p>
          <a:p>
            <a:pPr marL="0" indent="0">
              <a:buNone/>
            </a:pPr>
            <a:endParaRPr lang="pt-BR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Hábitos </a:t>
            </a:r>
            <a:r>
              <a:rPr lang="pt-B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autassediados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i="1" dirty="0" smtClean="0">
                <a:latin typeface="Arial" panose="020B0604020202020204" pitchFamily="34" charset="0"/>
                <a:cs typeface="Arial" panose="020B0604020202020204" pitchFamily="34" charset="0"/>
              </a:rPr>
              <a:t>as horas diárias nas redes sociais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Você já estabeleceu uma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Rotina Autoral Planejada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Você já está buscando vivenciar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Ritmo Mentalsomático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93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Dicas para instalar o Ritmo Mentalsomático...</a:t>
            </a:r>
            <a:endParaRPr lang="pt-BR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33425" y="1690688"/>
            <a:ext cx="11144250" cy="49657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Rotina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intrafísica padrão a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fim de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liberar o mentalsoma para o trabalho construtivo 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perdurável.</a:t>
            </a:r>
          </a:p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Corte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dos estímulos ambientais e sociais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excessivos.</a:t>
            </a:r>
          </a:p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Escritório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silencioso e a biblioteca pessoal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intimista, com holopensene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mentalsomático, desassediador e antintrusões.</a:t>
            </a:r>
          </a:p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Megafoco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mentalsomático nas ideias </a:t>
            </a: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(anywhere, anytime</a:t>
            </a: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Aquecimento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neuronal mantido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continuamente. </a:t>
            </a:r>
          </a:p>
          <a:p>
            <a:pPr>
              <a:lnSpc>
                <a:spcPct val="120000"/>
              </a:lnSpc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Autossustentação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energética no labor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intelectual.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6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Megafocal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7967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3100" dirty="0" smtClean="0">
                <a:latin typeface="Arial" panose="020B0604020202020204" pitchFamily="34" charset="0"/>
                <a:cs typeface="Arial" panose="020B0604020202020204" pitchFamily="34" charset="0"/>
              </a:rPr>
              <a:t>Sua memória, atenção e/ou concentração ajudam ou atrapalham na redação do seu livro?</a:t>
            </a:r>
          </a:p>
          <a:p>
            <a:pPr marL="0" indent="0">
              <a:buNone/>
            </a:pPr>
            <a:endParaRPr lang="pt-B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Alguns </a:t>
            </a:r>
            <a:r>
              <a:rPr lang="pt-B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autassédios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mentaissomáticos nessa área: </a:t>
            </a:r>
          </a:p>
          <a:p>
            <a:pPr indent="133350">
              <a:buFont typeface="Wingdings" panose="05000000000000000000" pitchFamily="2" charset="2"/>
              <a:buChar char="ü"/>
              <a:tabLst>
                <a:tab pos="628650" algn="l"/>
              </a:tabLst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Desconcentração (favorece intrusão).</a:t>
            </a:r>
          </a:p>
          <a:p>
            <a:pPr indent="133350">
              <a:buFont typeface="Wingdings" panose="05000000000000000000" pitchFamily="2" charset="2"/>
              <a:buChar char="ü"/>
              <a:tabLst>
                <a:tab pos="628650" algn="l"/>
              </a:tabLst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Hipoacuidade. </a:t>
            </a:r>
          </a:p>
          <a:p>
            <a:pPr indent="133350">
              <a:buFont typeface="Wingdings" panose="05000000000000000000" pitchFamily="2" charset="2"/>
              <a:buChar char="ü"/>
              <a:tabLst>
                <a:tab pos="628650" algn="l"/>
              </a:tabLst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 Hipomnésia; antimnemossomática (predisposição às cunhas mentais).</a:t>
            </a: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0" y="4305300"/>
            <a:ext cx="1219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Eis o porquê </a:t>
            </a: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Holociclo </a:t>
            </a: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Holoteca </a:t>
            </a:r>
            <a:b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são Laboratórios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de  </a:t>
            </a:r>
            <a:r>
              <a:rPr lang="pt-BR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Autodesassédio </a:t>
            </a:r>
            <a:r>
              <a:rPr lang="pt-BR" sz="32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Mentalsomático...</a:t>
            </a:r>
            <a:endParaRPr lang="pt-BR" sz="3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61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Parapsíquica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6"/>
            <a:ext cx="11070021" cy="5850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Já incorporou as bases da autodefesa energética na sua rotina de escrita?</a:t>
            </a: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2133511" y="3494241"/>
            <a:ext cx="8208912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Sinalética energética e parapsíquica pessoal.</a:t>
            </a:r>
          </a:p>
          <a:p>
            <a:pPr algn="just">
              <a:lnSpc>
                <a:spcPct val="110000"/>
              </a:lnSpc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133511" y="4142313"/>
            <a:ext cx="7200800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Mudança do bloco pensênico.</a:t>
            </a:r>
          </a:p>
        </p:txBody>
      </p:sp>
      <p:sp>
        <p:nvSpPr>
          <p:cNvPr id="8" name="Retângulo 7"/>
          <p:cNvSpPr/>
          <p:nvPr/>
        </p:nvSpPr>
        <p:spPr>
          <a:xfrm>
            <a:off x="2133511" y="5484681"/>
            <a:ext cx="814419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pt-BR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Autodesassimilação simpática.</a:t>
            </a:r>
          </a:p>
        </p:txBody>
      </p:sp>
      <p:sp>
        <p:nvSpPr>
          <p:cNvPr id="9" name="Retângulo 8"/>
          <p:cNvSpPr/>
          <p:nvPr/>
        </p:nvSpPr>
        <p:spPr>
          <a:xfrm>
            <a:off x="2133511" y="4836609"/>
            <a:ext cx="640871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pt-BR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Instalação de campo energético.</a:t>
            </a: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2133511" y="2820385"/>
            <a:ext cx="8208912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10000"/>
              </a:lnSpc>
              <a:buFont typeface="Wingdings" pitchFamily="2" charset="2"/>
              <a:buChar char="ü"/>
            </a:pPr>
            <a:r>
              <a:rPr 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Estado Vibracional.</a:t>
            </a:r>
          </a:p>
          <a:p>
            <a:pPr algn="just">
              <a:lnSpc>
                <a:spcPct val="110000"/>
              </a:lnSpc>
            </a:pP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8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Dimensão Volitiva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52512" y="3949700"/>
            <a:ext cx="10515600" cy="1279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Exemplo.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preguiça, especialmente a prostração mental, predispõe ao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assédio. O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preguiçoso é mais facilmente convencido a deixar de fazer o necessário. 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033462" y="2148185"/>
            <a:ext cx="105346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Autassédio </a:t>
            </a:r>
            <a:r>
              <a:rPr lang="pt-BR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volitivo: </a:t>
            </a:r>
            <a:r>
              <a:rPr lang="pt-B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manifestação acidiosa da conscin, sem vontade </a:t>
            </a:r>
            <a:r>
              <a:rPr lang="pt-BR" sz="28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suficiente </a:t>
            </a:r>
            <a:r>
              <a:rPr lang="pt-B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enfrentar os desafios da vida para atingir os objetivos da autoproéxis</a:t>
            </a: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51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0581" y="2293253"/>
            <a:ext cx="10944225" cy="1325563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pt-BR" sz="54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Autodesassédio Autoral</a:t>
            </a:r>
            <a:endParaRPr lang="pt-BR" sz="5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40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Resultado de imagem para escrevendo um livro desenh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007" y="2016089"/>
            <a:ext cx="2452543" cy="2452543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3877511" y="605333"/>
            <a:ext cx="22349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Fichamentos </a:t>
            </a:r>
            <a:endParaRPr lang="pt-BR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Bibliográficos</a:t>
            </a:r>
            <a:endParaRPr lang="pt-BR" sz="2400" dirty="0"/>
          </a:p>
        </p:txBody>
      </p:sp>
      <p:sp>
        <p:nvSpPr>
          <p:cNvPr id="14" name="Retângulo 13"/>
          <p:cNvSpPr/>
          <p:nvPr/>
        </p:nvSpPr>
        <p:spPr>
          <a:xfrm>
            <a:off x="8129186" y="2500493"/>
            <a:ext cx="1826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Definições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7860175" y="4317811"/>
            <a:ext cx="36718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Neologismos e Verpons</a:t>
            </a:r>
            <a:endParaRPr lang="pt-BR" sz="2400" dirty="0"/>
          </a:p>
        </p:txBody>
      </p:sp>
      <p:sp>
        <p:nvSpPr>
          <p:cNvPr id="16" name="Retângulo 15"/>
          <p:cNvSpPr/>
          <p:nvPr/>
        </p:nvSpPr>
        <p:spPr>
          <a:xfrm>
            <a:off x="8214145" y="1785256"/>
            <a:ext cx="17411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Digitações</a:t>
            </a:r>
            <a:endParaRPr lang="pt-BR" sz="2400" dirty="0"/>
          </a:p>
        </p:txBody>
      </p:sp>
      <p:sp>
        <p:nvSpPr>
          <p:cNvPr id="17" name="Retângulo 16"/>
          <p:cNvSpPr/>
          <p:nvPr/>
        </p:nvSpPr>
        <p:spPr>
          <a:xfrm>
            <a:off x="6154927" y="5149238"/>
            <a:ext cx="29722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Revisões 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múltiplas</a:t>
            </a:r>
          </a:p>
          <a:p>
            <a:pPr algn="ctr"/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(auto e hetero)</a:t>
            </a:r>
            <a:endParaRPr lang="pt-BR" sz="2400" dirty="0"/>
          </a:p>
        </p:txBody>
      </p:sp>
      <p:sp>
        <p:nvSpPr>
          <p:cNvPr id="18" name="Retângulo 17"/>
          <p:cNvSpPr/>
          <p:nvPr/>
        </p:nvSpPr>
        <p:spPr>
          <a:xfrm>
            <a:off x="8008011" y="3109070"/>
            <a:ext cx="4064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Gescons Intermediárias</a:t>
            </a:r>
          </a:p>
          <a:p>
            <a:pPr algn="ctr"/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verbetes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artigos 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cursos</a:t>
            </a:r>
            <a:endParaRPr lang="pt-BR" sz="2400" dirty="0"/>
          </a:p>
        </p:txBody>
      </p:sp>
      <p:sp>
        <p:nvSpPr>
          <p:cNvPr id="19" name="Retângulo 18"/>
          <p:cNvSpPr/>
          <p:nvPr/>
        </p:nvSpPr>
        <p:spPr>
          <a:xfrm>
            <a:off x="4387235" y="5527296"/>
            <a:ext cx="167225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Pangrafia </a:t>
            </a:r>
          </a:p>
          <a:p>
            <a:pPr algn="ctr"/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Equipex</a:t>
            </a:r>
            <a:endParaRPr lang="pt-BR" sz="2400" dirty="0"/>
          </a:p>
        </p:txBody>
      </p:sp>
      <p:grpSp>
        <p:nvGrpSpPr>
          <p:cNvPr id="2" name="Grupo 1"/>
          <p:cNvGrpSpPr/>
          <p:nvPr/>
        </p:nvGrpSpPr>
        <p:grpSpPr>
          <a:xfrm>
            <a:off x="155575" y="2361731"/>
            <a:ext cx="4594134" cy="1494677"/>
            <a:chOff x="155575" y="2361731"/>
            <a:chExt cx="4594134" cy="1494677"/>
          </a:xfrm>
        </p:grpSpPr>
        <p:sp>
          <p:nvSpPr>
            <p:cNvPr id="8" name="Retângulo 7"/>
            <p:cNvSpPr/>
            <p:nvPr/>
          </p:nvSpPr>
          <p:spPr>
            <a:xfrm>
              <a:off x="2435134" y="2593230"/>
              <a:ext cx="231457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Leituras </a:t>
              </a:r>
              <a:r>
                <a:rPr lang="pt-BR" sz="2000" b="1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Pesquisísticas</a:t>
              </a:r>
              <a:r>
                <a:rPr lang="pt-BR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pt-BR" sz="20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Variadas</a:t>
              </a:r>
              <a:endParaRPr lang="pt-BR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6" name="Picture 2" descr="Resultado de imagem para leitur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75" y="2361731"/>
              <a:ext cx="2246098" cy="1494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upo 2"/>
          <p:cNvGrpSpPr/>
          <p:nvPr/>
        </p:nvGrpSpPr>
        <p:grpSpPr>
          <a:xfrm>
            <a:off x="896577" y="55240"/>
            <a:ext cx="2324675" cy="1960849"/>
            <a:chOff x="896577" y="55240"/>
            <a:chExt cx="2324675" cy="1960849"/>
          </a:xfrm>
        </p:grpSpPr>
        <p:sp>
          <p:nvSpPr>
            <p:cNvPr id="9" name="Retângulo 8"/>
            <p:cNvSpPr/>
            <p:nvPr/>
          </p:nvSpPr>
          <p:spPr>
            <a:xfrm>
              <a:off x="896577" y="1554424"/>
              <a:ext cx="232467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400" b="1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Cosmogramas</a:t>
              </a:r>
              <a:endParaRPr lang="pt-BR" sz="2400" dirty="0"/>
            </a:p>
          </p:txBody>
        </p:sp>
        <p:pic>
          <p:nvPicPr>
            <p:cNvPr id="1028" name="Picture 4" descr="Resultado de imagem para clippi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930" y="55240"/>
              <a:ext cx="1703223" cy="1477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AutoShape 6" descr="Resultado de imagem para círculo mentalsomátic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0" name="Grupo 9"/>
          <p:cNvGrpSpPr/>
          <p:nvPr/>
        </p:nvGrpSpPr>
        <p:grpSpPr>
          <a:xfrm>
            <a:off x="110974" y="4131409"/>
            <a:ext cx="5454317" cy="2601117"/>
            <a:chOff x="1" y="4328206"/>
            <a:chExt cx="5454317" cy="2601117"/>
          </a:xfrm>
        </p:grpSpPr>
        <p:sp>
          <p:nvSpPr>
            <p:cNvPr id="12" name="Retângulo 11"/>
            <p:cNvSpPr/>
            <p:nvPr/>
          </p:nvSpPr>
          <p:spPr>
            <a:xfrm>
              <a:off x="273245" y="4328206"/>
              <a:ext cx="518107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24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Debates</a:t>
              </a:r>
            </a:p>
            <a:p>
              <a:r>
                <a:rPr lang="pt-B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Círculo Mentalsomático  </a:t>
              </a:r>
            </a:p>
            <a:p>
              <a:r>
                <a:rPr lang="pt-BR" sz="2400" i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                Tertuliarium</a:t>
              </a:r>
              <a:endParaRPr lang="pt-BR" sz="2400" dirty="0"/>
            </a:p>
          </p:txBody>
        </p:sp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" y="5157673"/>
              <a:ext cx="1771650" cy="1771650"/>
            </a:xfrm>
            <a:prstGeom prst="rect">
              <a:avLst/>
            </a:prstGeom>
          </p:spPr>
        </p:pic>
      </p:grpSp>
      <p:sp>
        <p:nvSpPr>
          <p:cNvPr id="20" name="AutoShape 8" descr="Resultado de imagem para palestr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22" name="Grupo 21"/>
          <p:cNvGrpSpPr/>
          <p:nvPr/>
        </p:nvGrpSpPr>
        <p:grpSpPr>
          <a:xfrm>
            <a:off x="6625772" y="49639"/>
            <a:ext cx="5511415" cy="1386691"/>
            <a:chOff x="6625772" y="49639"/>
            <a:chExt cx="5511415" cy="1386691"/>
          </a:xfrm>
        </p:grpSpPr>
        <p:sp>
          <p:nvSpPr>
            <p:cNvPr id="13" name="Retângulo 12"/>
            <p:cNvSpPr/>
            <p:nvPr/>
          </p:nvSpPr>
          <p:spPr>
            <a:xfrm>
              <a:off x="6625772" y="49639"/>
              <a:ext cx="205150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Exposicões </a:t>
              </a:r>
              <a:r>
                <a:rPr lang="pt-B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palestras</a:t>
              </a:r>
              <a:r>
                <a:rPr lang="pt-BR" sz="2400" dirty="0">
                  <a:latin typeface="Arial" panose="020B0604020202020204" pitchFamily="34" charset="0"/>
                  <a:cs typeface="Arial" panose="020B0604020202020204" pitchFamily="34" charset="0"/>
                </a:rPr>
                <a:t>; conferências</a:t>
              </a:r>
              <a:endParaRPr lang="pt-BR" sz="2400" dirty="0"/>
            </a:p>
          </p:txBody>
        </p:sp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03437" y="64730"/>
              <a:ext cx="3333750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584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9587" y="422275"/>
            <a:ext cx="10944225" cy="1325563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Indicadores do Autodesassédio </a:t>
            </a: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Mentalsomático do Autorado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9647" y="2522428"/>
            <a:ext cx="5341527" cy="22775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Autocriticometria 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(textos)</a:t>
            </a:r>
            <a:endParaRPr lang="pt-B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Efeitometria 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(interassistenciais)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Mentalsomatometria 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(profundidade)</a:t>
            </a:r>
            <a:endParaRPr lang="pt-B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6096000" y="252242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Ortopensenometria 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lineraridade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Produmetri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(quantidade-qualidade)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Redaciometria </a:t>
            </a:r>
            <a:r>
              <a:rPr lang="pt-B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(ideia-escrita)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pt-B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egagesconometria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(dedicação)</a:t>
            </a: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63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7" y="241300"/>
            <a:ext cx="10944225" cy="1325563"/>
          </a:xfrm>
        </p:spPr>
        <p:txBody>
          <a:bodyPr>
            <a:normAutofit/>
          </a:bodyPr>
          <a:lstStyle/>
          <a:p>
            <a:pPr algn="ctr"/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Indicadores do Autodesassédio </a:t>
            </a:r>
            <a:b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Mentalsomático do Autorado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537747" y="2018808"/>
            <a:ext cx="7502375" cy="30726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pt-BR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Nível Parapsíquico Avançado</a:t>
            </a: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endParaRPr lang="pt-BR" sz="3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pt-BR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Autorretrocognições intelectuais sadias</a:t>
            </a: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pt-BR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Vivência da pangrafia</a:t>
            </a: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</a:pPr>
            <a:r>
              <a:rPr lang="pt-BR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Vivência da </a:t>
            </a:r>
            <a:r>
              <a:rPr lang="pt-BR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projeção mentalsomática</a:t>
            </a:r>
          </a:p>
        </p:txBody>
      </p:sp>
    </p:spTree>
    <p:extLst>
      <p:ext uri="{BB962C8B-B14F-4D97-AF65-F5344CB8AC3E}">
        <p14:creationId xmlns:p14="http://schemas.microsoft.com/office/powerpoint/2010/main" val="362007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7375" y="798348"/>
            <a:ext cx="10944225" cy="1325563"/>
          </a:xfrm>
        </p:spPr>
        <p:txBody>
          <a:bodyPr>
            <a:normAutofit/>
          </a:bodyPr>
          <a:lstStyle/>
          <a:p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Vale Lembrar...</a:t>
            </a: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077584" y="2758431"/>
            <a:ext cx="10454016" cy="1664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CCCI disponibiliza múltiplos recursos para o Autodesassédio Mentalsomático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86288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60096"/>
              </p:ext>
            </p:extLst>
          </p:nvPr>
        </p:nvGraphicFramePr>
        <p:xfrm>
          <a:off x="655419" y="805719"/>
          <a:ext cx="11287125" cy="490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0075"/>
                <a:gridCol w="6877050"/>
              </a:tblGrid>
              <a:tr h="780951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Leitura Crítica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Heterocrítica</a:t>
                      </a:r>
                      <a:r>
                        <a:rPr lang="pt-BR" sz="28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Obra Útil; Clube do Livro OIC; Holoteca; Leitura Lúcida</a:t>
                      </a:r>
                      <a:endParaRPr lang="pt-BR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2826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Campos</a:t>
                      </a:r>
                      <a:r>
                        <a:rPr lang="pt-BR" sz="28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Escrita </a:t>
                      </a:r>
                      <a:r>
                        <a:rPr lang="pt-BR" sz="2800" b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Uniescon; </a:t>
                      </a:r>
                      <a:r>
                        <a:rPr lang="pt-BR" sz="2800" b="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Encyclossapiens</a:t>
                      </a:r>
                      <a:endParaRPr lang="pt-BR" sz="28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780951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Reflexão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Laboratórios;</a:t>
                      </a:r>
                      <a:r>
                        <a:rPr lang="pt-BR" sz="28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2800" b="0" i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Técnica da Autorreflexão de 5 horas</a:t>
                      </a:r>
                    </a:p>
                  </a:txBody>
                  <a:tcPr/>
                </a:tc>
              </a:tr>
              <a:tr h="42826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Intenção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Consciencioterapia; </a:t>
                      </a:r>
                      <a:r>
                        <a:rPr lang="pt-BR" sz="2800" b="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Cosmoethos</a:t>
                      </a:r>
                      <a:endParaRPr lang="pt-BR" sz="28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2826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Concentração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 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Holociclo</a:t>
                      </a:r>
                      <a:endParaRPr lang="pt-BR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2826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Associação de Ideias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</a:pP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Prova da</a:t>
                      </a:r>
                      <a:r>
                        <a:rPr lang="pt-BR" sz="28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Imagística</a:t>
                      </a:r>
                      <a:endParaRPr lang="pt-BR" sz="2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428263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tabLst>
                          <a:tab pos="3143250" algn="l"/>
                        </a:tabLst>
                      </a:pP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Holomemória </a:t>
                      </a:r>
                      <a:r>
                        <a:rPr lang="pt-BR" sz="28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</a:t>
                      </a:r>
                      <a:endParaRPr lang="pt-BR" sz="2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</a:pPr>
                      <a:r>
                        <a:rPr lang="pt-BR" sz="2800" b="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Consecutivus;</a:t>
                      </a:r>
                      <a:r>
                        <a:rPr lang="pt-BR" sz="28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pt-BR" sz="2800" b="0" i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Laboratório</a:t>
                      </a:r>
                      <a:r>
                        <a:rPr lang="pt-BR" sz="2800" b="0" i="1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Autorretrocognição</a:t>
                      </a:r>
                      <a:endParaRPr lang="pt-BR" sz="28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02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80029" y="357410"/>
            <a:ext cx="8911687" cy="1280890"/>
          </a:xfrm>
        </p:spPr>
        <p:txBody>
          <a:bodyPr/>
          <a:lstStyle/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Bibliografia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0029" y="1785445"/>
            <a:ext cx="10948821" cy="4382101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Assédio Mentalsomático – Waldo Vieira, HSR (2007)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Autodesassédio Autoral – Kátia Arakaki, Scriptor N.1 (2010)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Autassédio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Mentalsomático – Maximiliano Haymann, EC (2013)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Desassediologia – Waldo Vieira, EC (2013)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Léxico de Ortopensatas – Waldo Vieira (2015)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Prescrições para o Autodesassédio – Maximiliano Haymann (2015)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Ritmo Mentalsomático – Waldo Vieira, EC (2013)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Rotina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Autoral Planejada –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Dulce Daou,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Scriptor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N.4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2013)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Rotina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Aleatória – Kátia Arakaki, Scriptor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N.4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2013)</a:t>
            </a:r>
          </a:p>
        </p:txBody>
      </p:sp>
    </p:spTree>
    <p:extLst>
      <p:ext uri="{BB962C8B-B14F-4D97-AF65-F5344CB8AC3E}">
        <p14:creationId xmlns:p14="http://schemas.microsoft.com/office/powerpoint/2010/main" val="353447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860</TotalTime>
  <Words>990</Words>
  <Application>Microsoft Office PowerPoint</Application>
  <PresentationFormat>Widescreen</PresentationFormat>
  <Paragraphs>200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Wingdings</vt:lpstr>
      <vt:lpstr>office theme</vt:lpstr>
      <vt:lpstr>Apresentação do PowerPoint</vt:lpstr>
      <vt:lpstr>  Autodesassédio  Mentalsomático do Escritor</vt:lpstr>
      <vt:lpstr>Apresentação do PowerPoint</vt:lpstr>
      <vt:lpstr>Apresentação do PowerPoint</vt:lpstr>
      <vt:lpstr>Taxologia da Assedialidade</vt:lpstr>
      <vt:lpstr>Taxologia da Assedialidade</vt:lpstr>
      <vt:lpstr>Taxologia da Assedialidade</vt:lpstr>
      <vt:lpstr>Assédio Mentalsomático</vt:lpstr>
      <vt:lpstr>Assédio Mentalsomático</vt:lpstr>
      <vt:lpstr>Assédio Mentalsomático</vt:lpstr>
      <vt:lpstr>Autassédio Mentalsomático</vt:lpstr>
      <vt:lpstr>Algumas Dimensões do Autodesassédio Mentalsomático Importantes para o Escritor</vt:lpstr>
      <vt:lpstr>Dimensão Cognitiva</vt:lpstr>
      <vt:lpstr>Dimensão Cognitiva</vt:lpstr>
      <vt:lpstr>Dimensão Cognitiva</vt:lpstr>
      <vt:lpstr>Dimensão Conteudística</vt:lpstr>
      <vt:lpstr>Dimensão Intencional</vt:lpstr>
      <vt:lpstr>Dimensão Autorganizacional</vt:lpstr>
      <vt:lpstr>Dicas para instalar o Ritmo Mentalsomático...</vt:lpstr>
      <vt:lpstr>Dimensão Megafocal</vt:lpstr>
      <vt:lpstr>Dimensão Parapsíquica</vt:lpstr>
      <vt:lpstr>Dimensão Volitiva</vt:lpstr>
      <vt:lpstr>Autodesassédio Autoral</vt:lpstr>
      <vt:lpstr>Apresentação do PowerPoint</vt:lpstr>
      <vt:lpstr>Indicadores do Autodesassédio  Mentalsomático do Autorado</vt:lpstr>
      <vt:lpstr>Indicadores do Autodesassédio  Mentalsomático do Autorado</vt:lpstr>
      <vt:lpstr>Vale Lembrar...</vt:lpstr>
      <vt:lpstr>Apresentação do PowerPoint</vt:lpstr>
      <vt:lpstr>Bibliografia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Maximiliano Haymann</dc:creator>
  <cp:lastModifiedBy>Maximiliano Haymann</cp:lastModifiedBy>
  <cp:revision>130</cp:revision>
  <cp:lastPrinted>2017-10-29T18:52:47Z</cp:lastPrinted>
  <dcterms:created xsi:type="dcterms:W3CDTF">2017-10-29T12:03:13Z</dcterms:created>
  <dcterms:modified xsi:type="dcterms:W3CDTF">2019-11-08T13:18:42Z</dcterms:modified>
</cp:coreProperties>
</file>